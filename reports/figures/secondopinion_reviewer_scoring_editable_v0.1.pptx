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wide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Main title"/>
          <p:cNvSpPr txBox="1"/>
          <p:nvPr/>
        </p:nvSpPr>
        <p:spPr>
          <a:xfrm>
            <a:off x="320040" y="246888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900" b="1">
                <a:solidFill>
                  <a:srgbClr val="182542"/>
                </a:solidFill>
                <a:latin typeface="Georgia"/>
              </a:rPr>
              <a:t>Reviewer Opinion Scoring</a:t>
            </a:r>
            <a:endParaRPr lang="en-US" sz="1900"/>
          </a:p>
        </p:txBody>
      </p:sp>
      <p:sp>
        <p:nvSpPr>
          <p:cNvPr id="3" name="Subtitle"/>
          <p:cNvSpPr txBox="1"/>
          <p:nvPr/>
        </p:nvSpPr>
        <p:spPr>
          <a:xfrm>
            <a:off x="320040" y="521208"/>
            <a:ext cx="36118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800">
                <a:solidFill>
                  <a:srgbClr val="5F6878"/>
                </a:solidFill>
                <a:latin typeface="Georgia"/>
              </a:rPr>
              <a:t>Neutral third-party assessment of review comments</a:t>
            </a:r>
            <a:endParaRPr lang="en-US" sz="800"/>
          </a:p>
        </p:txBody>
      </p:sp>
      <p:sp>
        <p:nvSpPr>
          <p:cNvPr id="4" name="Pill"/>
          <p:cNvSpPr/>
          <p:nvPr/>
        </p:nvSpPr>
        <p:spPr>
          <a:xfrm>
            <a:off x="3035808" y="274320"/>
            <a:ext cx="713232" cy="155448"/>
          </a:xfrm>
          <a:prstGeom prst="rect">
            <a:avLst/>
          </a:prstGeom>
          <a:solidFill>
            <a:srgbClr val="F3F6FB"/>
          </a:solidFill>
          <a:ln w="9000">
            <a:solidFill>
              <a:srgbClr val="D7DEE8"/>
            </a:solidFill>
          </a:ln>
        </p:spPr>
      </p:sp>
      <p:sp>
        <p:nvSpPr>
          <p:cNvPr id="5" name="Pill text"/>
          <p:cNvSpPr txBox="1"/>
          <p:nvPr/>
        </p:nvSpPr>
        <p:spPr>
          <a:xfrm>
            <a:off x="3136392" y="310896"/>
            <a:ext cx="521208" cy="1005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/>
            <a:r>
              <a:rPr lang="en-US" sz="700" b="1">
                <a:solidFill>
                  <a:srgbClr val="182542"/>
                </a:solidFill>
                <a:latin typeface="Georgia"/>
              </a:rPr>
              <a:t>VP1</a:t>
            </a:r>
            <a:endParaRPr lang="en-US" sz="700"/>
          </a:p>
        </p:txBody>
      </p:sp>
      <p:sp>
        <p:nvSpPr>
          <p:cNvPr id="6" name="Card - Official Review Package"/>
          <p:cNvSpPr/>
          <p:nvPr/>
        </p:nvSpPr>
        <p:spPr>
          <a:xfrm>
            <a:off x="320040" y="786384"/>
            <a:ext cx="3703320" cy="621792"/>
          </a:xfrm>
          <a:prstGeom prst="rect">
            <a:avLst/>
          </a:prstGeom>
          <a:solidFill>
            <a:srgbClr val="FFFFFF"/>
          </a:solidFill>
          <a:ln w="9000">
            <a:solidFill>
              <a:srgbClr val="D7DEE8"/>
            </a:solidFill>
          </a:ln>
        </p:spPr>
      </p:sp>
      <p:sp>
        <p:nvSpPr>
          <p:cNvPr id="7" name="Stripe - Official Review Package"/>
          <p:cNvSpPr/>
          <p:nvPr/>
        </p:nvSpPr>
        <p:spPr>
          <a:xfrm>
            <a:off x="320040" y="786384"/>
            <a:ext cx="54864" cy="621792"/>
          </a:xfrm>
          <a:prstGeom prst="rect">
            <a:avLst/>
          </a:prstGeom>
          <a:solidFill>
            <a:srgbClr val="182542"/>
          </a:solidFill>
          <a:ln>
            <a:noFill/>
          </a:ln>
        </p:spPr>
      </p:sp>
      <p:sp>
        <p:nvSpPr>
          <p:cNvPr id="8" name="Label - Official Review Package"/>
          <p:cNvSpPr txBox="1"/>
          <p:nvPr/>
        </p:nvSpPr>
        <p:spPr>
          <a:xfrm>
            <a:off x="521208" y="886968"/>
            <a:ext cx="335584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700" b="1">
                <a:solidFill>
                  <a:srgbClr val="007B7B"/>
                </a:solidFill>
                <a:latin typeface="Georgia"/>
              </a:rPr>
              <a:t>1. REVIEW DATA</a:t>
            </a:r>
            <a:endParaRPr lang="en-US" sz="700"/>
          </a:p>
        </p:txBody>
      </p:sp>
      <p:sp>
        <p:nvSpPr>
          <p:cNvPr id="9" name="Title - Official Review Package"/>
          <p:cNvSpPr txBox="1"/>
          <p:nvPr/>
        </p:nvSpPr>
        <p:spPr>
          <a:xfrm>
            <a:off x="521208" y="1060704"/>
            <a:ext cx="335584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 b="1">
                <a:solidFill>
                  <a:srgbClr val="182542"/>
                </a:solidFill>
                <a:latin typeface="Georgia"/>
              </a:rPr>
              <a:t>Official Review Package</a:t>
            </a:r>
            <a:endParaRPr lang="en-US" sz="1200"/>
          </a:p>
        </p:txBody>
      </p:sp>
      <p:sp>
        <p:nvSpPr>
          <p:cNvPr id="10" name="Body - Official Review Package"/>
          <p:cNvSpPr txBox="1"/>
          <p:nvPr/>
        </p:nvSpPr>
        <p:spPr>
          <a:xfrm>
            <a:off x="521208" y="1289304"/>
            <a:ext cx="3355848" cy="91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800">
                <a:solidFill>
                  <a:srgbClr val="172033"/>
                </a:solidFill>
                <a:latin typeface="Georgia"/>
              </a:rPr>
              <a:t>Review text, strengths, weaknesses,</a:t>
            </a:r>
            <a:br/>
            <a:r>
              <a:rPr lang="en-US" sz="800">
                <a:solidFill>
                  <a:srgbClr val="172033"/>
                </a:solidFill>
                <a:latin typeface="Georgia"/>
              </a:rPr>
              <a:t>questions, rating and confidence.</a:t>
            </a:r>
            <a:endParaRPr lang="en-US" sz="800"/>
          </a:p>
        </p:txBody>
      </p:sp>
      <p:sp>
        <p:nvSpPr>
          <p:cNvPr id="11" name="Flow Arrow"/>
          <p:cNvSpPr txBox="1"/>
          <p:nvPr/>
        </p:nvSpPr>
        <p:spPr>
          <a:xfrm>
            <a:off x="2121408" y="1463040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/>
            <a:r>
              <a:rPr lang="en-US" sz="1400" b="1">
                <a:solidFill>
                  <a:srgbClr val="B6BFCC"/>
                </a:solidFill>
                <a:latin typeface="Georgia"/>
              </a:rPr>
              <a:t>↓</a:t>
            </a:r>
            <a:endParaRPr lang="en-US" sz="1400"/>
          </a:p>
        </p:txBody>
      </p:sp>
      <p:sp>
        <p:nvSpPr>
          <p:cNvPr id="12" name="Card - Structured Review Record"/>
          <p:cNvSpPr/>
          <p:nvPr/>
        </p:nvSpPr>
        <p:spPr>
          <a:xfrm>
            <a:off x="320040" y="1609344"/>
            <a:ext cx="3703320" cy="621792"/>
          </a:xfrm>
          <a:prstGeom prst="rect">
            <a:avLst/>
          </a:prstGeom>
          <a:solidFill>
            <a:srgbClr val="FFFFFF"/>
          </a:solidFill>
          <a:ln w="9000">
            <a:solidFill>
              <a:srgbClr val="D7DEE8"/>
            </a:solidFill>
          </a:ln>
        </p:spPr>
      </p:sp>
      <p:sp>
        <p:nvSpPr>
          <p:cNvPr id="13" name="Stripe - Structured Review Record"/>
          <p:cNvSpPr/>
          <p:nvPr/>
        </p:nvSpPr>
        <p:spPr>
          <a:xfrm>
            <a:off x="320040" y="1609344"/>
            <a:ext cx="54864" cy="621792"/>
          </a:xfrm>
          <a:prstGeom prst="rect">
            <a:avLst/>
          </a:prstGeom>
          <a:solidFill>
            <a:srgbClr val="182542"/>
          </a:solidFill>
          <a:ln>
            <a:noFill/>
          </a:ln>
        </p:spPr>
      </p:sp>
      <p:sp>
        <p:nvSpPr>
          <p:cNvPr id="14" name="Label - Structured Review Record"/>
          <p:cNvSpPr txBox="1"/>
          <p:nvPr/>
        </p:nvSpPr>
        <p:spPr>
          <a:xfrm>
            <a:off x="521208" y="1709928"/>
            <a:ext cx="335584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700" b="1">
                <a:solidFill>
                  <a:srgbClr val="007B7B"/>
                </a:solidFill>
                <a:latin typeface="Georgia"/>
              </a:rPr>
              <a:t>2. NORMALIZE</a:t>
            </a:r>
            <a:endParaRPr lang="en-US" sz="700"/>
          </a:p>
        </p:txBody>
      </p:sp>
      <p:sp>
        <p:nvSpPr>
          <p:cNvPr id="15" name="Title - Structured Review Record"/>
          <p:cNvSpPr txBox="1"/>
          <p:nvPr/>
        </p:nvSpPr>
        <p:spPr>
          <a:xfrm>
            <a:off x="521208" y="1883664"/>
            <a:ext cx="335584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 b="1">
                <a:solidFill>
                  <a:srgbClr val="182542"/>
                </a:solidFill>
                <a:latin typeface="Georgia"/>
              </a:rPr>
              <a:t>Structured Review Record</a:t>
            </a:r>
            <a:endParaRPr lang="en-US" sz="1200"/>
          </a:p>
        </p:txBody>
      </p:sp>
      <p:sp>
        <p:nvSpPr>
          <p:cNvPr id="16" name="Body - Structured Review Record"/>
          <p:cNvSpPr txBox="1"/>
          <p:nvPr/>
        </p:nvSpPr>
        <p:spPr>
          <a:xfrm>
            <a:off x="521208" y="2112264"/>
            <a:ext cx="3355848" cy="91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800">
                <a:solidFill>
                  <a:srgbClr val="172033"/>
                </a:solidFill>
                <a:latin typeface="Georgia"/>
              </a:rPr>
              <a:t>Separate factual comments, questions,</a:t>
            </a:r>
            <a:br/>
            <a:r>
              <a:rPr lang="en-US" sz="800">
                <a:solidFill>
                  <a:srgbClr val="172033"/>
                </a:solidFill>
                <a:latin typeface="Georgia"/>
              </a:rPr>
              <a:t>requests and score justifications.</a:t>
            </a:r>
            <a:endParaRPr lang="en-US" sz="800"/>
          </a:p>
        </p:txBody>
      </p:sp>
      <p:sp>
        <p:nvSpPr>
          <p:cNvPr id="17" name="Flow Arrow"/>
          <p:cNvSpPr txBox="1"/>
          <p:nvPr/>
        </p:nvSpPr>
        <p:spPr>
          <a:xfrm>
            <a:off x="2121408" y="2286000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/>
            <a:r>
              <a:rPr lang="en-US" sz="1400" b="1">
                <a:solidFill>
                  <a:srgbClr val="B6BFCC"/>
                </a:solidFill>
                <a:latin typeface="Georgia"/>
              </a:rPr>
              <a:t>↓</a:t>
            </a:r>
            <a:endParaRPr lang="en-US" sz="1400"/>
          </a:p>
        </p:txBody>
      </p:sp>
      <p:sp>
        <p:nvSpPr>
          <p:cNvPr id="18" name="Card - Extract Reviewer's Opinions"/>
          <p:cNvSpPr/>
          <p:nvPr/>
        </p:nvSpPr>
        <p:spPr>
          <a:xfrm>
            <a:off x="320040" y="2432304"/>
            <a:ext cx="3703320" cy="713232"/>
          </a:xfrm>
          <a:prstGeom prst="rect">
            <a:avLst/>
          </a:prstGeom>
          <a:solidFill>
            <a:srgbClr val="FFFFFF"/>
          </a:solidFill>
          <a:ln w="9000">
            <a:solidFill>
              <a:srgbClr val="D7DEE8"/>
            </a:solidFill>
          </a:ln>
        </p:spPr>
      </p:sp>
      <p:sp>
        <p:nvSpPr>
          <p:cNvPr id="19" name="Stripe - Extract Reviewer's Opinions"/>
          <p:cNvSpPr/>
          <p:nvPr/>
        </p:nvSpPr>
        <p:spPr>
          <a:xfrm>
            <a:off x="320040" y="2432304"/>
            <a:ext cx="54864" cy="713232"/>
          </a:xfrm>
          <a:prstGeom prst="rect">
            <a:avLst/>
          </a:prstGeom>
          <a:solidFill>
            <a:srgbClr val="007B7B"/>
          </a:solidFill>
          <a:ln>
            <a:noFill/>
          </a:ln>
        </p:spPr>
      </p:sp>
      <p:sp>
        <p:nvSpPr>
          <p:cNvPr id="20" name="Label - Extract Reviewer's Opinions"/>
          <p:cNvSpPr txBox="1"/>
          <p:nvPr/>
        </p:nvSpPr>
        <p:spPr>
          <a:xfrm>
            <a:off x="521208" y="2532888"/>
            <a:ext cx="335584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700" b="1">
                <a:solidFill>
                  <a:srgbClr val="007B7B"/>
                </a:solidFill>
                <a:latin typeface="Georgia"/>
              </a:rPr>
              <a:t>3. ATOMIC CLAIMS</a:t>
            </a:r>
            <a:endParaRPr lang="en-US" sz="700"/>
          </a:p>
        </p:txBody>
      </p:sp>
      <p:sp>
        <p:nvSpPr>
          <p:cNvPr id="21" name="Title - Extract Reviewer's Opinions"/>
          <p:cNvSpPr txBox="1"/>
          <p:nvPr/>
        </p:nvSpPr>
        <p:spPr>
          <a:xfrm>
            <a:off x="521208" y="2706624"/>
            <a:ext cx="335584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 b="1">
                <a:solidFill>
                  <a:srgbClr val="182542"/>
                </a:solidFill>
                <a:latin typeface="Georgia"/>
              </a:rPr>
              <a:t>Extract Reviewer's Opinions</a:t>
            </a:r>
            <a:endParaRPr lang="en-US" sz="1200"/>
          </a:p>
        </p:txBody>
      </p:sp>
      <p:sp>
        <p:nvSpPr>
          <p:cNvPr id="22" name="Body - Extract Reviewer's Opinions"/>
          <p:cNvSpPr txBox="1"/>
          <p:nvPr/>
        </p:nvSpPr>
        <p:spPr>
          <a:xfrm>
            <a:off x="521208" y="2935224"/>
            <a:ext cx="33558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800">
                <a:solidFill>
                  <a:srgbClr val="172033"/>
                </a:solidFill>
                <a:latin typeface="Georgia"/>
              </a:rPr>
              <a:t>Turn each review into auditable claims:</a:t>
            </a:r>
            <a:br/>
            <a:r>
              <a:rPr lang="en-US" sz="800">
                <a:solidFill>
                  <a:srgbClr val="172033"/>
                </a:solidFill>
                <a:latin typeface="Georgia"/>
              </a:rPr>
              <a:t>criticism, question, requested experiment,</a:t>
            </a:r>
            <a:br/>
            <a:r>
              <a:rPr lang="en-US" sz="800">
                <a:solidFill>
                  <a:srgbClr val="172033"/>
                </a:solidFill>
                <a:latin typeface="Georgia"/>
              </a:rPr>
              <a:t>clarification request or score rationale.</a:t>
            </a:r>
            <a:endParaRPr lang="en-US" sz="800"/>
          </a:p>
        </p:txBody>
      </p:sp>
      <p:sp>
        <p:nvSpPr>
          <p:cNvPr id="23" name="Flow Arrow"/>
          <p:cNvSpPr txBox="1"/>
          <p:nvPr/>
        </p:nvSpPr>
        <p:spPr>
          <a:xfrm>
            <a:off x="2121408" y="3200400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/>
            <a:r>
              <a:rPr lang="en-US" sz="1400" b="1">
                <a:solidFill>
                  <a:srgbClr val="B6BFCC"/>
                </a:solidFill>
                <a:latin typeface="Georgia"/>
              </a:rPr>
              <a:t>↓</a:t>
            </a:r>
            <a:endParaRPr lang="en-US" sz="1400"/>
          </a:p>
        </p:txBody>
      </p:sp>
      <p:sp>
        <p:nvSpPr>
          <p:cNvPr id="24" name="Card - Attach Paper + Prior-Art Context"/>
          <p:cNvSpPr/>
          <p:nvPr/>
        </p:nvSpPr>
        <p:spPr>
          <a:xfrm>
            <a:off x="320040" y="3346704"/>
            <a:ext cx="3703320" cy="566928"/>
          </a:xfrm>
          <a:prstGeom prst="rect">
            <a:avLst/>
          </a:prstGeom>
          <a:solidFill>
            <a:srgbClr val="FFFFFF"/>
          </a:solidFill>
          <a:ln w="9000">
            <a:solidFill>
              <a:srgbClr val="D7DEE8"/>
            </a:solidFill>
          </a:ln>
        </p:spPr>
      </p:sp>
      <p:sp>
        <p:nvSpPr>
          <p:cNvPr id="25" name="Stripe - Attach Paper + Prior-Art Context"/>
          <p:cNvSpPr/>
          <p:nvPr/>
        </p:nvSpPr>
        <p:spPr>
          <a:xfrm>
            <a:off x="320040" y="3346704"/>
            <a:ext cx="54864" cy="566928"/>
          </a:xfrm>
          <a:prstGeom prst="rect">
            <a:avLst/>
          </a:prstGeom>
          <a:solidFill>
            <a:srgbClr val="007B7B"/>
          </a:solidFill>
          <a:ln>
            <a:noFill/>
          </a:ln>
        </p:spPr>
      </p:sp>
      <p:sp>
        <p:nvSpPr>
          <p:cNvPr id="26" name="Label - Attach Paper + Prior-Art Context"/>
          <p:cNvSpPr txBox="1"/>
          <p:nvPr/>
        </p:nvSpPr>
        <p:spPr>
          <a:xfrm>
            <a:off x="521208" y="3447288"/>
            <a:ext cx="335584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700" b="1">
                <a:solidFill>
                  <a:srgbClr val="007B7B"/>
                </a:solidFill>
                <a:latin typeface="Georgia"/>
              </a:rPr>
              <a:t>4. EVIDENCE GROUNDING</a:t>
            </a:r>
            <a:endParaRPr lang="en-US" sz="700"/>
          </a:p>
        </p:txBody>
      </p:sp>
      <p:sp>
        <p:nvSpPr>
          <p:cNvPr id="27" name="Title - Attach Paper + Prior-Art Context"/>
          <p:cNvSpPr txBox="1"/>
          <p:nvPr/>
        </p:nvSpPr>
        <p:spPr>
          <a:xfrm>
            <a:off x="521208" y="3621024"/>
            <a:ext cx="335584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 b="1">
                <a:solidFill>
                  <a:srgbClr val="182542"/>
                </a:solidFill>
                <a:latin typeface="Georgia"/>
              </a:rPr>
              <a:t>Attach Paper + Prior-Art Context</a:t>
            </a:r>
            <a:endParaRPr lang="en-US" sz="1200"/>
          </a:p>
        </p:txBody>
      </p:sp>
      <p:sp>
        <p:nvSpPr>
          <p:cNvPr id="28" name="Body - Attach Paper + Prior-Art Context"/>
          <p:cNvSpPr txBox="1"/>
          <p:nvPr/>
        </p:nvSpPr>
        <p:spPr>
          <a:xfrm>
            <a:off x="521208" y="3849624"/>
            <a:ext cx="3355848" cy="365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800">
                <a:solidFill>
                  <a:srgbClr val="172033"/>
                </a:solidFill>
                <a:latin typeface="Georgia"/>
              </a:rPr>
              <a:t>Ground each claim in review text, paper content,</a:t>
            </a:r>
            <a:br/>
            <a:r>
              <a:rPr lang="en-US" sz="800">
                <a:solidFill>
                  <a:srgbClr val="172033"/>
                </a:solidFill>
                <a:latin typeface="Georgia"/>
              </a:rPr>
              <a:t>and external related work / dataset evidence.</a:t>
            </a:r>
            <a:endParaRPr lang="en-US" sz="800"/>
          </a:p>
        </p:txBody>
      </p:sp>
      <p:sp>
        <p:nvSpPr>
          <p:cNvPr id="29" name="Flow Arrow"/>
          <p:cNvSpPr txBox="1"/>
          <p:nvPr/>
        </p:nvSpPr>
        <p:spPr>
          <a:xfrm>
            <a:off x="2121408" y="3968496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/>
            <a:r>
              <a:rPr lang="en-US" sz="1400" b="1">
                <a:solidFill>
                  <a:srgbClr val="B6BFCC"/>
                </a:solidFill>
                <a:latin typeface="Georgia"/>
              </a:rPr>
              <a:t>↓</a:t>
            </a:r>
            <a:endParaRPr lang="en-US" sz="1400"/>
          </a:p>
        </p:txBody>
      </p:sp>
      <p:sp>
        <p:nvSpPr>
          <p:cNvPr id="30" name="Scoring dimensions card"/>
          <p:cNvSpPr/>
          <p:nvPr/>
        </p:nvSpPr>
        <p:spPr>
          <a:xfrm>
            <a:off x="320040" y="4114800"/>
            <a:ext cx="3703320" cy="1572768"/>
          </a:xfrm>
          <a:prstGeom prst="rect">
            <a:avLst/>
          </a:prstGeom>
          <a:solidFill>
            <a:srgbClr val="FFFFFF"/>
          </a:solidFill>
          <a:ln w="9000">
            <a:solidFill>
              <a:srgbClr val="D7DEE8"/>
            </a:solidFill>
          </a:ln>
        </p:spPr>
      </p:sp>
      <p:sp>
        <p:nvSpPr>
          <p:cNvPr id="31" name="Scoring dimensions stripe"/>
          <p:cNvSpPr/>
          <p:nvPr/>
        </p:nvSpPr>
        <p:spPr>
          <a:xfrm>
            <a:off x="320040" y="4114800"/>
            <a:ext cx="54864" cy="1572768"/>
          </a:xfrm>
          <a:prstGeom prst="rect">
            <a:avLst/>
          </a:prstGeom>
          <a:solidFill>
            <a:srgbClr val="007B7B"/>
          </a:solidFill>
          <a:ln>
            <a:noFill/>
          </a:ln>
        </p:spPr>
      </p:sp>
      <p:sp>
        <p:nvSpPr>
          <p:cNvPr id="32" name="Scoring label"/>
          <p:cNvSpPr txBox="1"/>
          <p:nvPr/>
        </p:nvSpPr>
        <p:spPr>
          <a:xfrm>
            <a:off x="521208" y="4206240"/>
            <a:ext cx="335584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700" b="1">
                <a:solidFill>
                  <a:srgbClr val="007B7B"/>
                </a:solidFill>
                <a:latin typeface="Georgia"/>
              </a:rPr>
              <a:t>5. SCORING DIMENSIONS</a:t>
            </a:r>
            <a:endParaRPr lang="en-US" sz="700"/>
          </a:p>
        </p:txBody>
      </p:sp>
      <p:sp>
        <p:nvSpPr>
          <p:cNvPr id="33" name="Scoring title"/>
          <p:cNvSpPr txBox="1"/>
          <p:nvPr/>
        </p:nvSpPr>
        <p:spPr>
          <a:xfrm>
            <a:off x="521208" y="4379976"/>
            <a:ext cx="33558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 b="1">
                <a:solidFill>
                  <a:srgbClr val="182542"/>
                </a:solidFill>
                <a:latin typeface="Georgia"/>
              </a:rPr>
              <a:t>Score the Opinion, Not the Person</a:t>
            </a:r>
            <a:endParaRPr lang="en-US" sz="1200"/>
          </a:p>
        </p:txBody>
      </p:sp>
      <p:sp>
        <p:nvSpPr>
          <p:cNvPr id="34" name="Axis - Specificity"/>
          <p:cNvSpPr/>
          <p:nvPr/>
        </p:nvSpPr>
        <p:spPr>
          <a:xfrm>
            <a:off x="512064" y="4443984"/>
            <a:ext cx="1755648" cy="457200"/>
          </a:xfrm>
          <a:prstGeom prst="rect">
            <a:avLst/>
          </a:prstGeom>
          <a:solidFill>
            <a:srgbClr val="F8FAFC"/>
          </a:solidFill>
          <a:ln w="9000">
            <a:solidFill>
              <a:srgbClr val="D7DEE8"/>
            </a:solidFill>
          </a:ln>
        </p:spPr>
      </p:sp>
      <p:sp>
        <p:nvSpPr>
          <p:cNvPr id="35" name="Dot - Specificity"/>
          <p:cNvSpPr/>
          <p:nvPr/>
        </p:nvSpPr>
        <p:spPr>
          <a:xfrm>
            <a:off x="621792" y="4581144"/>
            <a:ext cx="50292" cy="50292"/>
          </a:xfrm>
          <a:prstGeom prst="rect">
            <a:avLst/>
          </a:prstGeom>
          <a:solidFill>
            <a:srgbClr val="007B7B"/>
          </a:solidFill>
          <a:ln w="9000">
            <a:solidFill>
              <a:srgbClr val="007B7B"/>
            </a:solidFill>
          </a:ln>
        </p:spPr>
      </p:sp>
      <p:sp>
        <p:nvSpPr>
          <p:cNvPr id="36" name="Axis title - Specificity"/>
          <p:cNvSpPr txBox="1"/>
          <p:nvPr/>
        </p:nvSpPr>
        <p:spPr>
          <a:xfrm>
            <a:off x="731520" y="4535424"/>
            <a:ext cx="1481328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800" b="1">
                <a:solidFill>
                  <a:srgbClr val="182542"/>
                </a:solidFill>
                <a:latin typeface="Georgia"/>
              </a:rPr>
              <a:t>Specificity</a:t>
            </a:r>
            <a:endParaRPr lang="en-US" sz="800"/>
          </a:p>
        </p:txBody>
      </p:sp>
      <p:sp>
        <p:nvSpPr>
          <p:cNvPr id="37" name="Axis body - Specificity"/>
          <p:cNvSpPr txBox="1"/>
          <p:nvPr/>
        </p:nvSpPr>
        <p:spPr>
          <a:xfrm>
            <a:off x="731520" y="4690872"/>
            <a:ext cx="148132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700">
                <a:solidFill>
                  <a:srgbClr val="475569"/>
                </a:solidFill>
                <a:latin typeface="Georgia"/>
              </a:rPr>
              <a:t>Concrete,</a:t>
            </a:r>
            <a:br/>
            <a:r>
              <a:rPr lang="en-US" sz="700">
                <a:solidFill>
                  <a:srgbClr val="475569"/>
                </a:solidFill>
                <a:latin typeface="Georgia"/>
              </a:rPr>
              <a:t>localized, inspectable?</a:t>
            </a:r>
            <a:endParaRPr lang="en-US" sz="700"/>
          </a:p>
        </p:txBody>
      </p:sp>
      <p:sp>
        <p:nvSpPr>
          <p:cNvPr id="38" name="Axis - Substantiation"/>
          <p:cNvSpPr/>
          <p:nvPr/>
        </p:nvSpPr>
        <p:spPr>
          <a:xfrm>
            <a:off x="2240280" y="4443984"/>
            <a:ext cx="1755648" cy="457200"/>
          </a:xfrm>
          <a:prstGeom prst="rect">
            <a:avLst/>
          </a:prstGeom>
          <a:solidFill>
            <a:srgbClr val="F8FAFC"/>
          </a:solidFill>
          <a:ln w="9000">
            <a:solidFill>
              <a:srgbClr val="D7DEE8"/>
            </a:solidFill>
          </a:ln>
        </p:spPr>
      </p:sp>
      <p:sp>
        <p:nvSpPr>
          <p:cNvPr id="39" name="Dot - Substantiation"/>
          <p:cNvSpPr/>
          <p:nvPr/>
        </p:nvSpPr>
        <p:spPr>
          <a:xfrm>
            <a:off x="2350008" y="4581144"/>
            <a:ext cx="50292" cy="50292"/>
          </a:xfrm>
          <a:prstGeom prst="rect">
            <a:avLst/>
          </a:prstGeom>
          <a:solidFill>
            <a:srgbClr val="007B7B"/>
          </a:solidFill>
          <a:ln w="9000">
            <a:solidFill>
              <a:srgbClr val="007B7B"/>
            </a:solidFill>
          </a:ln>
        </p:spPr>
      </p:sp>
      <p:sp>
        <p:nvSpPr>
          <p:cNvPr id="40" name="Axis title - Substantiation"/>
          <p:cNvSpPr txBox="1"/>
          <p:nvPr/>
        </p:nvSpPr>
        <p:spPr>
          <a:xfrm>
            <a:off x="2459736" y="4535424"/>
            <a:ext cx="1481328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800" b="1">
                <a:solidFill>
                  <a:srgbClr val="182542"/>
                </a:solidFill>
                <a:latin typeface="Georgia"/>
              </a:rPr>
              <a:t>Substantiation</a:t>
            </a:r>
            <a:endParaRPr lang="en-US" sz="800"/>
          </a:p>
        </p:txBody>
      </p:sp>
      <p:sp>
        <p:nvSpPr>
          <p:cNvPr id="41" name="Axis body - Substantiation"/>
          <p:cNvSpPr txBox="1"/>
          <p:nvPr/>
        </p:nvSpPr>
        <p:spPr>
          <a:xfrm>
            <a:off x="2459736" y="4690872"/>
            <a:ext cx="148132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700">
                <a:solidFill>
                  <a:srgbClr val="475569"/>
                </a:solidFill>
                <a:latin typeface="Georgia"/>
              </a:rPr>
              <a:t>Reasons, evidence,</a:t>
            </a:r>
            <a:br/>
            <a:r>
              <a:rPr lang="en-US" sz="700">
                <a:solidFill>
                  <a:srgbClr val="475569"/>
                </a:solidFill>
                <a:latin typeface="Georgia"/>
              </a:rPr>
              <a:t>or comparison?</a:t>
            </a:r>
            <a:endParaRPr lang="en-US" sz="700"/>
          </a:p>
        </p:txBody>
      </p:sp>
      <p:sp>
        <p:nvSpPr>
          <p:cNvPr id="42" name="Axis - Actionability"/>
          <p:cNvSpPr/>
          <p:nvPr/>
        </p:nvSpPr>
        <p:spPr>
          <a:xfrm>
            <a:off x="512064" y="4956048"/>
            <a:ext cx="1755648" cy="457200"/>
          </a:xfrm>
          <a:prstGeom prst="rect">
            <a:avLst/>
          </a:prstGeom>
          <a:solidFill>
            <a:srgbClr val="F8FAFC"/>
          </a:solidFill>
          <a:ln w="9000">
            <a:solidFill>
              <a:srgbClr val="D7DEE8"/>
            </a:solidFill>
          </a:ln>
        </p:spPr>
      </p:sp>
      <p:sp>
        <p:nvSpPr>
          <p:cNvPr id="43" name="Dot - Actionability"/>
          <p:cNvSpPr/>
          <p:nvPr/>
        </p:nvSpPr>
        <p:spPr>
          <a:xfrm>
            <a:off x="621792" y="5093208"/>
            <a:ext cx="50292" cy="50292"/>
          </a:xfrm>
          <a:prstGeom prst="rect">
            <a:avLst/>
          </a:prstGeom>
          <a:solidFill>
            <a:srgbClr val="007B7B"/>
          </a:solidFill>
          <a:ln w="9000">
            <a:solidFill>
              <a:srgbClr val="007B7B"/>
            </a:solidFill>
          </a:ln>
        </p:spPr>
      </p:sp>
      <p:sp>
        <p:nvSpPr>
          <p:cNvPr id="44" name="Axis title - Actionability"/>
          <p:cNvSpPr txBox="1"/>
          <p:nvPr/>
        </p:nvSpPr>
        <p:spPr>
          <a:xfrm>
            <a:off x="731520" y="5047488"/>
            <a:ext cx="1481328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800" b="1">
                <a:solidFill>
                  <a:srgbClr val="182542"/>
                </a:solidFill>
                <a:latin typeface="Georgia"/>
              </a:rPr>
              <a:t>Actionability</a:t>
            </a:r>
            <a:endParaRPr lang="en-US" sz="800"/>
          </a:p>
        </p:txBody>
      </p:sp>
      <p:sp>
        <p:nvSpPr>
          <p:cNvPr id="45" name="Axis body - Actionability"/>
          <p:cNvSpPr txBox="1"/>
          <p:nvPr/>
        </p:nvSpPr>
        <p:spPr>
          <a:xfrm>
            <a:off x="731520" y="5202936"/>
            <a:ext cx="148132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700">
                <a:solidFill>
                  <a:srgbClr val="475569"/>
                </a:solidFill>
                <a:latin typeface="Georgia"/>
              </a:rPr>
              <a:t>Clear next step</a:t>
            </a:r>
            <a:br/>
            <a:r>
              <a:rPr lang="en-US" sz="700">
                <a:solidFill>
                  <a:srgbClr val="475569"/>
                </a:solidFill>
                <a:latin typeface="Georgia"/>
              </a:rPr>
              <a:t>for authors?</a:t>
            </a:r>
            <a:endParaRPr lang="en-US" sz="700"/>
          </a:p>
        </p:txBody>
      </p:sp>
      <p:sp>
        <p:nvSpPr>
          <p:cNvPr id="46" name="Axis - Materiality"/>
          <p:cNvSpPr/>
          <p:nvPr/>
        </p:nvSpPr>
        <p:spPr>
          <a:xfrm>
            <a:off x="2240280" y="4956048"/>
            <a:ext cx="1755648" cy="457200"/>
          </a:xfrm>
          <a:prstGeom prst="rect">
            <a:avLst/>
          </a:prstGeom>
          <a:solidFill>
            <a:srgbClr val="FDEBDC"/>
          </a:solidFill>
          <a:ln w="9000">
            <a:solidFill>
              <a:srgbClr val="F0C7A9"/>
            </a:solidFill>
          </a:ln>
        </p:spPr>
      </p:sp>
      <p:sp>
        <p:nvSpPr>
          <p:cNvPr id="47" name="Dot - Materiality"/>
          <p:cNvSpPr/>
          <p:nvPr/>
        </p:nvSpPr>
        <p:spPr>
          <a:xfrm>
            <a:off x="2350008" y="5093208"/>
            <a:ext cx="50292" cy="50292"/>
          </a:xfrm>
          <a:prstGeom prst="rect">
            <a:avLst/>
          </a:prstGeom>
          <a:solidFill>
            <a:srgbClr val="D6460B"/>
          </a:solidFill>
          <a:ln w="9000">
            <a:solidFill>
              <a:srgbClr val="D6460B"/>
            </a:solidFill>
          </a:ln>
        </p:spPr>
      </p:sp>
      <p:sp>
        <p:nvSpPr>
          <p:cNvPr id="48" name="Axis title - Materiality"/>
          <p:cNvSpPr txBox="1"/>
          <p:nvPr/>
        </p:nvSpPr>
        <p:spPr>
          <a:xfrm>
            <a:off x="2459736" y="5047488"/>
            <a:ext cx="1481328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800" b="1">
                <a:solidFill>
                  <a:srgbClr val="D6460B"/>
                </a:solidFill>
                <a:latin typeface="Georgia"/>
              </a:rPr>
              <a:t>Materiality</a:t>
            </a:r>
            <a:endParaRPr lang="en-US" sz="800"/>
          </a:p>
        </p:txBody>
      </p:sp>
      <p:sp>
        <p:nvSpPr>
          <p:cNvPr id="49" name="Axis body - Materiality"/>
          <p:cNvSpPr txBox="1"/>
          <p:nvPr/>
        </p:nvSpPr>
        <p:spPr>
          <a:xfrm>
            <a:off x="2459736" y="5202936"/>
            <a:ext cx="148132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700">
                <a:solidFill>
                  <a:srgbClr val="475569"/>
                </a:solidFill>
                <a:latin typeface="Georgia"/>
              </a:rPr>
              <a:t>Core claim or</a:t>
            </a:r>
            <a:br/>
            <a:r>
              <a:rPr lang="en-US" sz="700">
                <a:solidFill>
                  <a:srgbClr val="475569"/>
                </a:solidFill>
                <a:latin typeface="Georgia"/>
              </a:rPr>
              <a:t>margin issue?</a:t>
            </a:r>
            <a:endParaRPr lang="en-US" sz="700"/>
          </a:p>
        </p:txBody>
      </p:sp>
      <p:sp>
        <p:nvSpPr>
          <p:cNvPr id="50" name="Axis - Semantic Consensus"/>
          <p:cNvSpPr/>
          <p:nvPr/>
        </p:nvSpPr>
        <p:spPr>
          <a:xfrm>
            <a:off x="512064" y="5468112"/>
            <a:ext cx="1755648" cy="457200"/>
          </a:xfrm>
          <a:prstGeom prst="rect">
            <a:avLst/>
          </a:prstGeom>
          <a:solidFill>
            <a:srgbClr val="F8FAFC"/>
          </a:solidFill>
          <a:ln w="9000">
            <a:solidFill>
              <a:srgbClr val="D7DEE8"/>
            </a:solidFill>
          </a:ln>
        </p:spPr>
      </p:sp>
      <p:sp>
        <p:nvSpPr>
          <p:cNvPr id="51" name="Dot - Semantic Consensus"/>
          <p:cNvSpPr/>
          <p:nvPr/>
        </p:nvSpPr>
        <p:spPr>
          <a:xfrm>
            <a:off x="621792" y="5605272"/>
            <a:ext cx="50292" cy="50292"/>
          </a:xfrm>
          <a:prstGeom prst="rect">
            <a:avLst/>
          </a:prstGeom>
          <a:solidFill>
            <a:srgbClr val="007B7B"/>
          </a:solidFill>
          <a:ln w="9000">
            <a:solidFill>
              <a:srgbClr val="007B7B"/>
            </a:solidFill>
          </a:ln>
        </p:spPr>
      </p:sp>
      <p:sp>
        <p:nvSpPr>
          <p:cNvPr id="52" name="Axis title - Semantic Consensus"/>
          <p:cNvSpPr txBox="1"/>
          <p:nvPr/>
        </p:nvSpPr>
        <p:spPr>
          <a:xfrm>
            <a:off x="731520" y="5559552"/>
            <a:ext cx="1481328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800" b="1">
                <a:solidFill>
                  <a:srgbClr val="182542"/>
                </a:solidFill>
                <a:latin typeface="Georgia"/>
              </a:rPr>
              <a:t>Semantic Consensus</a:t>
            </a:r>
            <a:endParaRPr lang="en-US" sz="800"/>
          </a:p>
        </p:txBody>
      </p:sp>
      <p:sp>
        <p:nvSpPr>
          <p:cNvPr id="53" name="Axis body - Semantic Consensus"/>
          <p:cNvSpPr txBox="1"/>
          <p:nvPr/>
        </p:nvSpPr>
        <p:spPr>
          <a:xfrm>
            <a:off x="731520" y="5715000"/>
            <a:ext cx="148132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700">
                <a:solidFill>
                  <a:srgbClr val="475569"/>
                </a:solidFill>
                <a:latin typeface="Georgia"/>
              </a:rPr>
              <a:t>Same concern</a:t>
            </a:r>
            <a:br/>
            <a:r>
              <a:rPr lang="en-US" sz="700">
                <a:solidFill>
                  <a:srgbClr val="475569"/>
                </a:solidFill>
                <a:latin typeface="Georgia"/>
              </a:rPr>
              <a:t>across reviews?</a:t>
            </a:r>
            <a:endParaRPr lang="en-US" sz="700"/>
          </a:p>
        </p:txBody>
      </p:sp>
      <p:sp>
        <p:nvSpPr>
          <p:cNvPr id="54" name="Axis - Tone &amp; Calibration"/>
          <p:cNvSpPr/>
          <p:nvPr/>
        </p:nvSpPr>
        <p:spPr>
          <a:xfrm>
            <a:off x="2240280" y="5468112"/>
            <a:ext cx="1755648" cy="457200"/>
          </a:xfrm>
          <a:prstGeom prst="rect">
            <a:avLst/>
          </a:prstGeom>
          <a:solidFill>
            <a:srgbClr val="FDEBDC"/>
          </a:solidFill>
          <a:ln w="9000">
            <a:solidFill>
              <a:srgbClr val="F0C7A9"/>
            </a:solidFill>
          </a:ln>
        </p:spPr>
      </p:sp>
      <p:sp>
        <p:nvSpPr>
          <p:cNvPr id="55" name="Dot - Tone &amp; Calibration"/>
          <p:cNvSpPr/>
          <p:nvPr/>
        </p:nvSpPr>
        <p:spPr>
          <a:xfrm>
            <a:off x="2350008" y="5605272"/>
            <a:ext cx="50292" cy="50292"/>
          </a:xfrm>
          <a:prstGeom prst="rect">
            <a:avLst/>
          </a:prstGeom>
          <a:solidFill>
            <a:srgbClr val="D6460B"/>
          </a:solidFill>
          <a:ln w="9000">
            <a:solidFill>
              <a:srgbClr val="D6460B"/>
            </a:solidFill>
          </a:ln>
        </p:spPr>
      </p:sp>
      <p:sp>
        <p:nvSpPr>
          <p:cNvPr id="56" name="Axis title - Tone &amp; Calibration"/>
          <p:cNvSpPr txBox="1"/>
          <p:nvPr/>
        </p:nvSpPr>
        <p:spPr>
          <a:xfrm>
            <a:off x="2459736" y="5559552"/>
            <a:ext cx="1481328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800" b="1">
                <a:solidFill>
                  <a:srgbClr val="D6460B"/>
                </a:solidFill>
                <a:latin typeface="Georgia"/>
              </a:rPr>
              <a:t>Tone &amp; Calibration</a:t>
            </a:r>
            <a:endParaRPr lang="en-US" sz="800"/>
          </a:p>
        </p:txBody>
      </p:sp>
      <p:sp>
        <p:nvSpPr>
          <p:cNvPr id="57" name="Axis body - Tone &amp; Calibration"/>
          <p:cNvSpPr txBox="1"/>
          <p:nvPr/>
        </p:nvSpPr>
        <p:spPr>
          <a:xfrm>
            <a:off x="2459736" y="5715000"/>
            <a:ext cx="148132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700">
                <a:solidFill>
                  <a:srgbClr val="475569"/>
                </a:solidFill>
                <a:latin typeface="Georgia"/>
              </a:rPr>
              <a:t>Confidence,</a:t>
            </a:r>
            <a:br/>
            <a:r>
              <a:rPr lang="en-US" sz="700">
                <a:solidFill>
                  <a:srgbClr val="475569"/>
                </a:solidFill>
                <a:latin typeface="Georgia"/>
              </a:rPr>
              <a:t>rating, civility.</a:t>
            </a:r>
            <a:endParaRPr lang="en-US" sz="700"/>
          </a:p>
        </p:txBody>
      </p:sp>
      <p:sp>
        <p:nvSpPr>
          <p:cNvPr id="58" name="Flow Arrow"/>
          <p:cNvSpPr txBox="1"/>
          <p:nvPr/>
        </p:nvSpPr>
        <p:spPr>
          <a:xfrm>
            <a:off x="2121408" y="5733288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/>
            <a:r>
              <a:rPr lang="en-US" sz="1400" b="1">
                <a:solidFill>
                  <a:srgbClr val="B6BFCC"/>
                </a:solidFill>
                <a:latin typeface="Georgia"/>
              </a:rPr>
              <a:t>↓</a:t>
            </a:r>
            <a:endParaRPr lang="en-US" sz="1400"/>
          </a:p>
        </p:txBody>
      </p:sp>
      <p:sp>
        <p:nvSpPr>
          <p:cNvPr id="59" name="Card - Reviewer Opinion Scorecard"/>
          <p:cNvSpPr/>
          <p:nvPr/>
        </p:nvSpPr>
        <p:spPr>
          <a:xfrm>
            <a:off x="320040" y="5916168"/>
            <a:ext cx="3703320" cy="694944"/>
          </a:xfrm>
          <a:prstGeom prst="rect">
            <a:avLst/>
          </a:prstGeom>
          <a:solidFill>
            <a:srgbClr val="FFFFFF"/>
          </a:solidFill>
          <a:ln w="9000">
            <a:solidFill>
              <a:srgbClr val="D7DEE8"/>
            </a:solidFill>
          </a:ln>
        </p:spPr>
      </p:sp>
      <p:sp>
        <p:nvSpPr>
          <p:cNvPr id="60" name="Stripe - Reviewer Opinion Scorecard"/>
          <p:cNvSpPr/>
          <p:nvPr/>
        </p:nvSpPr>
        <p:spPr>
          <a:xfrm>
            <a:off x="320040" y="5916168"/>
            <a:ext cx="54864" cy="694944"/>
          </a:xfrm>
          <a:prstGeom prst="rect">
            <a:avLst/>
          </a:prstGeom>
          <a:solidFill>
            <a:srgbClr val="D6460B"/>
          </a:solidFill>
          <a:ln>
            <a:noFill/>
          </a:ln>
        </p:spPr>
      </p:sp>
      <p:sp>
        <p:nvSpPr>
          <p:cNvPr id="61" name="Label - Reviewer Opinion Scorecard"/>
          <p:cNvSpPr txBox="1"/>
          <p:nvPr/>
        </p:nvSpPr>
        <p:spPr>
          <a:xfrm>
            <a:off x="521208" y="6016752"/>
            <a:ext cx="335584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700" b="1">
                <a:solidFill>
                  <a:srgbClr val="007B7B"/>
                </a:solidFill>
                <a:latin typeface="Georgia"/>
              </a:rPr>
              <a:t>6. OUTPUT</a:t>
            </a:r>
            <a:endParaRPr lang="en-US" sz="700"/>
          </a:p>
        </p:txBody>
      </p:sp>
      <p:sp>
        <p:nvSpPr>
          <p:cNvPr id="62" name="Title - Reviewer Opinion Scorecard"/>
          <p:cNvSpPr txBox="1"/>
          <p:nvPr/>
        </p:nvSpPr>
        <p:spPr>
          <a:xfrm>
            <a:off x="521208" y="6190488"/>
            <a:ext cx="335584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 b="1">
                <a:solidFill>
                  <a:srgbClr val="182542"/>
                </a:solidFill>
                <a:latin typeface="Georgia"/>
              </a:rPr>
              <a:t>Reviewer Opinion Scorecard</a:t>
            </a:r>
            <a:endParaRPr lang="en-US" sz="1200"/>
          </a:p>
        </p:txBody>
      </p:sp>
      <p:sp>
        <p:nvSpPr>
          <p:cNvPr id="63" name="Body - Reviewer Opinion Scorecard"/>
          <p:cNvSpPr txBox="1"/>
          <p:nvPr/>
        </p:nvSpPr>
        <p:spPr>
          <a:xfrm>
            <a:off x="521208" y="6419088"/>
            <a:ext cx="335584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800">
                <a:solidFill>
                  <a:srgbClr val="172033"/>
                </a:solidFill>
                <a:latin typeface="Georgia"/>
              </a:rPr>
              <a:t>Comment-level score plus review-level profile:</a:t>
            </a:r>
            <a:br/>
            <a:r>
              <a:rPr lang="en-US" sz="800">
                <a:solidFill>
                  <a:srgbClr val="172033"/>
                </a:solidFill>
                <a:latin typeface="Georgia"/>
              </a:rPr>
              <a:t>high-signal, under-supported, over-harsh,</a:t>
            </a:r>
            <a:br/>
            <a:r>
              <a:rPr lang="en-US" sz="800">
                <a:solidFill>
                  <a:srgbClr val="172033"/>
                </a:solidFill>
                <a:latin typeface="Georgia"/>
              </a:rPr>
              <a:t>over-lenient or needs human check.</a:t>
            </a:r>
            <a:endParaRPr lang="en-US" sz="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condOpinion">
  <a:themeElements>
    <a:clrScheme name="SecondOpinion">
      <a:dk1>
        <a:srgbClr val="182542"/>
      </a:dk1>
      <a:lt1>
        <a:srgbClr val="FFFFFF"/>
      </a:lt1>
      <a:dk2>
        <a:srgbClr val="172033"/>
      </a:dk2>
      <a:lt2>
        <a:srgbClr val="F8FAFC"/>
      </a:lt2>
      <a:accent1>
        <a:srgbClr val="007B7B"/>
      </a:accent1>
      <a:accent2>
        <a:srgbClr val="D6460B"/>
      </a:accent2>
      <a:accent3>
        <a:srgbClr val="5F6878"/>
      </a:accent3>
      <a:accent4>
        <a:srgbClr val="D7DEE8"/>
      </a:accent4>
      <a:accent5>
        <a:srgbClr val="FDEBDC"/>
      </a:accent5>
      <a:accent6>
        <a:srgbClr val="F8FAFC"/>
      </a:accent6>
      <a:hlink>
        <a:srgbClr val="007B7B"/>
      </a:hlink>
      <a:folHlink>
        <a:srgbClr val="D6460B"/>
      </a:folHlink>
    </a:clrScheme>
    <a:fontScheme name="SecondOpinion">
      <a:majorFont>
        <a:latin typeface="Georgia"/>
      </a:majorFont>
      <a:minorFont>
        <a:latin typeface="Georgia"/>
      </a:minorFont>
    </a:fontScheme>
    <a:fmtScheme name="SecondOpinion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PowerPoint</Application>
  <PresentationFormat>On-screen Show (16:9)</PresentationFormat>
  <Slides>1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SecondOpinion Reviewer Opinion Scoring</dc:title>
  <dc:creator>Codex</dc:creator>
  <cp:lastModifiedBy>Codex</cp:lastModifiedBy>
  <dcterms:created xsi:type="dcterms:W3CDTF">2026-06-03T07:27:10+00:00</dcterms:created>
  <dcterms:modified xsi:type="dcterms:W3CDTF">2026-06-03T07:27:10+00:00</dcterms:modified>
</cp:coreProperties>
</file>