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penreview.net/forum?id=cXs5md5wAq" TargetMode="External"/><Relationship Id="rId3" Type="http://schemas.openxmlformats.org/officeDocument/2006/relationships/hyperlink" Target="https://openreview.net/forum?id=rhgIgTSSxW" TargetMode="External"/><Relationship Id="rId4" Type="http://schemas.openxmlformats.org/officeDocument/2006/relationships/hyperlink" Target="https://openreview.net/forum?id=eR4W9tnJoZ" TargetMode="External"/><Relationship Id="rId5" Type="http://schemas.openxmlformats.org/officeDocument/2006/relationships/hyperlink" Target="https://openreview.net/forum?id=B0wJ5oCPdB" TargetMode="External"/><Relationship Id="rId6" Type="http://schemas.openxmlformats.org/officeDocument/2006/relationships/hyperlink" Target="https://openreview.net/forum?id=xNdE7RiRyP" TargetMode="External"/><Relationship Id="rId7" Type="http://schemas.openxmlformats.org/officeDocument/2006/relationships/hyperlink" Target="https://openreview.net/forum?id=fI6TkT050a" TargetMode="Externa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hyperlink" Target="file:///C:/Users/Administrator/Desktop/SecondOpinion/reports/mvp_demo_three_papers.html" TargetMode="External"/><Relationship Id="rId11" Type="http://schemas.openxmlformats.org/officeDocument/2006/relationships/hyperlink" Target="https://github.com/Yongwen12/SecondOpinion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109728"/>
            <a:ext cx="11612880" cy="301752"/>
          </a:xfrm>
          <a:prstGeom prst="rect">
            <a:avLst/>
          </a:prstGeom>
          <a:noFill/>
        </p:spPr>
        <p:txBody>
          <a:bodyPr wrap="none" lIns="45720" rIns="45720" tIns="32004" bIns="32004" anchor="t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  <a:latin typeface="Aptos"/>
              </a:rPr>
              <a:t>SecondOpinion: Review Audit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448056"/>
            <a:ext cx="11612880" cy="164592"/>
          </a:xfrm>
          <a:prstGeom prst="rect">
            <a:avLst/>
          </a:prstGeom>
          <a:noFill/>
        </p:spPr>
        <p:txBody>
          <a:bodyPr wrap="none" lIns="45720" rIns="45720" tIns="32004" bIns="32004" anchor="t">
            <a:spAutoFit/>
          </a:bodyPr>
          <a:lstStyle/>
          <a:p>
            <a:pPr algn="l"/>
            <a:r>
              <a:rPr sz="840" b="0" i="0">
                <a:solidFill>
                  <a:srgbClr val="5B6670"/>
                </a:solidFill>
                <a:latin typeface="Aptos"/>
              </a:rPr>
              <a:t>Motivation evidence, technical architecture with an actual data trace, and current scoring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" y="731520"/>
            <a:ext cx="4069080" cy="57424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16552" y="731520"/>
            <a:ext cx="3822191" cy="57424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94192" y="731520"/>
            <a:ext cx="3593592" cy="57424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868680"/>
            <a:ext cx="3749039" cy="201168"/>
          </a:xfrm>
          <a:prstGeom prst="rect">
            <a:avLst/>
          </a:prstGeom>
          <a:noFill/>
        </p:spPr>
        <p:txBody>
          <a:bodyPr wrap="none" lIns="45720" rIns="45720" tIns="32004" bIns="32004" anchor="t">
            <a:spAutoFit/>
          </a:bodyPr>
          <a:lstStyle/>
          <a:p>
            <a:pPr algn="l"/>
            <a:r>
              <a:rPr sz="1130" b="1" i="0">
                <a:solidFill>
                  <a:srgbClr val="0F766E"/>
                </a:solidFill>
                <a:latin typeface="Aptos"/>
              </a:rPr>
              <a:t>1. Pilot review-quality 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069848"/>
            <a:ext cx="3703320" cy="137160"/>
          </a:xfrm>
          <a:prstGeom prst="rect">
            <a:avLst/>
          </a:prstGeom>
          <a:noFill/>
        </p:spPr>
        <p:txBody>
          <a:bodyPr wrap="none" lIns="45720" rIns="45720" tIns="32004" bIns="32004" anchor="t">
            <a:spAutoFit/>
          </a:bodyPr>
          <a:lstStyle/>
          <a:p>
            <a:pPr algn="l"/>
            <a:r>
              <a:rPr sz="580" b="0" i="0">
                <a:solidFill>
                  <a:srgbClr val="5B6670"/>
                </a:solidFill>
                <a:latin typeface="Aptos"/>
              </a:rPr>
              <a:t>Public ICLR 2024 examples; links point to the paper forum.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280160"/>
            <a:ext cx="3794760" cy="1298448"/>
          </a:xfrm>
          <a:prstGeom prst="roundRect">
            <a:avLst/>
          </a:prstGeom>
          <a:solidFill>
            <a:srgbClr val="F0FDFA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32004" bIns="32004"/>
          <a:lstStyle/>
          <a:p>
            <a:pPr algn="ctr">
              <a:spcAft>
                <a:spcPts val="45"/>
              </a:spcAft>
            </a:pPr>
            <a:r>
              <a:rPr sz="700" b="1" i="0">
                <a:solidFill>
                  <a:srgbClr val="0F766E"/>
                </a:solidFill>
                <a:latin typeface="Aptos"/>
              </a:rPr>
              <a:t>A. Reviewer conflict: same paper, different reviewers</a:t>
            </a:r>
          </a:p>
          <a:p>
            <a:pPr>
              <a:spcAft>
                <a:spcPts val="35"/>
              </a:spcAft>
            </a:pPr>
            <a:r>
              <a:rPr sz="570" b="1" i="0">
                <a:solidFill>
                  <a:srgbClr val="0F766E"/>
                </a:solidFill>
                <a:latin typeface="Aptos"/>
              </a:rPr>
              <a:t>Ex.1 Reviewer A: </a:t>
            </a:r>
            <a:r>
              <a:rPr sz="555" b="0" i="1">
                <a:solidFill>
                  <a:srgbClr val="111827"/>
                </a:solidFill>
                <a:latin typeface="Aptos"/>
              </a:rPr>
              <a:t>"weak on novelty"</a:t>
            </a:r>
            <a:r>
              <a:rPr sz="470" b="0" i="0">
                <a:solidFill>
                  <a:srgbClr val="0369A1"/>
                </a:solidFill>
                <a:latin typeface="Aptos"/>
              </a:rPr>
              <a:t>  [cXs5md5wAq]</a:t>
            </a:r>
          </a:p>
          <a:p>
            <a:pPr>
              <a:spcAft>
                <a:spcPts val="35"/>
              </a:spcAft>
            </a:pPr>
            <a:r>
              <a:rPr sz="570" b="1" i="0">
                <a:solidFill>
                  <a:srgbClr val="0F766E"/>
                </a:solidFill>
                <a:latin typeface="Aptos"/>
              </a:rPr>
              <a:t>Ex.1 Reviewer B: </a:t>
            </a:r>
            <a:r>
              <a:rPr sz="555" b="0" i="1">
                <a:solidFill>
                  <a:srgbClr val="111827"/>
                </a:solidFill>
                <a:latin typeface="Aptos"/>
              </a:rPr>
              <a:t>"Novel problem setup and the first use of GNN"</a:t>
            </a:r>
            <a:r>
              <a:rPr sz="470" b="0" i="0">
                <a:solidFill>
                  <a:srgbClr val="0369A1"/>
                </a:solidFill>
                <a:latin typeface="Aptos"/>
              </a:rPr>
              <a:t>  [cXs5md5wAq]</a:t>
            </a:r>
          </a:p>
          <a:p>
            <a:pPr>
              <a:spcAft>
                <a:spcPts val="35"/>
              </a:spcAft>
            </a:pPr>
            <a:r>
              <a:rPr sz="570" b="1" i="0">
                <a:solidFill>
                  <a:srgbClr val="0F766E"/>
                </a:solidFill>
                <a:latin typeface="Aptos"/>
              </a:rPr>
              <a:t>Ex.2 Reviewer A: </a:t>
            </a:r>
            <a:r>
              <a:rPr sz="555" b="0" i="1">
                <a:solidFill>
                  <a:srgbClr val="111827"/>
                </a:solidFill>
                <a:latin typeface="Aptos"/>
              </a:rPr>
              <a:t>"significant advance over prior work"</a:t>
            </a:r>
            <a:r>
              <a:rPr sz="470" b="0" i="0">
                <a:solidFill>
                  <a:srgbClr val="0369A1"/>
                </a:solidFill>
                <a:latin typeface="Aptos"/>
              </a:rPr>
              <a:t>  [rhgIgTSSxW]</a:t>
            </a:r>
          </a:p>
          <a:p>
            <a:pPr>
              <a:spcAft>
                <a:spcPts val="35"/>
              </a:spcAft>
            </a:pPr>
            <a:r>
              <a:rPr sz="570" b="1" i="0">
                <a:solidFill>
                  <a:srgbClr val="0F766E"/>
                </a:solidFill>
                <a:latin typeface="Aptos"/>
              </a:rPr>
              <a:t>Ex.2 Reviewer B: </a:t>
            </a:r>
            <a:r>
              <a:rPr sz="555" b="0" i="1">
                <a:solidFill>
                  <a:srgbClr val="111827"/>
                </a:solidFill>
                <a:latin typeface="Aptos"/>
              </a:rPr>
              <a:t>"motivations behind the module designs are not entirely clear"</a:t>
            </a:r>
            <a:r>
              <a:rPr sz="470" b="0" i="0">
                <a:solidFill>
                  <a:srgbClr val="0369A1"/>
                </a:solidFill>
                <a:latin typeface="Aptos"/>
              </a:rPr>
              <a:t>  [rhgIgTSSxW]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14016"/>
            <a:ext cx="1600200" cy="73152"/>
          </a:xfrm>
          <a:prstGeom prst="rect">
            <a:avLst/>
          </a:prstGeom>
          <a:noFill/>
        </p:spPr>
        <p:txBody>
          <a:bodyPr wrap="none" lIns="45720" rIns="45720" tIns="32004" bIns="32004" anchor="t">
            <a:spAutoFit/>
          </a:bodyPr>
          <a:lstStyle/>
          <a:p>
            <a:pPr algn="l"/>
            <a:r>
              <a:rPr sz="420" b="0" i="0">
                <a:solidFill>
                  <a:srgbClr val="0369A1"/>
                </a:solidFill>
                <a:latin typeface="Aptos"/>
                <a:hlinkClick r:id="rId2"/>
              </a:rPr>
              <a:t>link: cXs5md5wAq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414016"/>
            <a:ext cx="1600200" cy="73152"/>
          </a:xfrm>
          <a:prstGeom prst="rect">
            <a:avLst/>
          </a:prstGeom>
          <a:noFill/>
        </p:spPr>
        <p:txBody>
          <a:bodyPr wrap="none" lIns="45720" rIns="45720" tIns="32004" bIns="32004" anchor="t">
            <a:spAutoFit/>
          </a:bodyPr>
          <a:lstStyle/>
          <a:p>
            <a:pPr algn="l"/>
            <a:r>
              <a:rPr sz="420" b="0" i="0">
                <a:solidFill>
                  <a:srgbClr val="0369A1"/>
                </a:solidFill>
                <a:latin typeface="Aptos"/>
                <a:hlinkClick r:id="rId3"/>
              </a:rPr>
              <a:t>link: rhgIgTSSxW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2724912"/>
            <a:ext cx="3794760" cy="1408176"/>
          </a:xfrm>
          <a:prstGeom prst="roundRect">
            <a:avLst/>
          </a:prstGeom>
          <a:solidFill>
            <a:srgbClr val="FFF7ED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32004" bIns="32004"/>
          <a:lstStyle/>
          <a:p>
            <a:pPr algn="ctr">
              <a:spcAft>
                <a:spcPts val="45"/>
              </a:spcAft>
            </a:pPr>
            <a:r>
              <a:rPr sz="700" b="1" i="0">
                <a:solidFill>
                  <a:srgbClr val="B45309"/>
                </a:solidFill>
                <a:latin typeface="Aptos"/>
              </a:rPr>
              <a:t>B. Vague / low-actionability wording</a:t>
            </a:r>
          </a:p>
          <a:p>
            <a:pPr>
              <a:spcAft>
                <a:spcPts val="35"/>
              </a:spcAft>
            </a:pPr>
            <a:r>
              <a:rPr sz="570" b="1" i="0">
                <a:solidFill>
                  <a:srgbClr val="B45309"/>
                </a:solidFill>
                <a:latin typeface="Aptos"/>
              </a:rPr>
              <a:t>V1: </a:t>
            </a:r>
            <a:r>
              <a:rPr sz="555" b="0" i="1">
                <a:solidFill>
                  <a:srgbClr val="111827"/>
                </a:solidFill>
                <a:latin typeface="Aptos"/>
              </a:rPr>
              <a:t>"presentation ... chaotic"</a:t>
            </a:r>
            <a:r>
              <a:rPr sz="470" b="0" i="0">
                <a:solidFill>
                  <a:srgbClr val="0369A1"/>
                </a:solidFill>
                <a:latin typeface="Aptos"/>
              </a:rPr>
              <a:t>  [eR4W9tnJoZ]</a:t>
            </a:r>
          </a:p>
          <a:p>
            <a:pPr>
              <a:spcAft>
                <a:spcPts val="35"/>
              </a:spcAft>
            </a:pPr>
            <a:r>
              <a:rPr sz="570" b="1" i="0">
                <a:solidFill>
                  <a:srgbClr val="B45309"/>
                </a:solidFill>
                <a:latin typeface="Aptos"/>
              </a:rPr>
              <a:t>V2: </a:t>
            </a:r>
            <a:r>
              <a:rPr sz="555" b="0" i="1">
                <a:solidFill>
                  <a:srgbClr val="111827"/>
                </a:solidFill>
                <a:latin typeface="Aptos"/>
              </a:rPr>
              <a:t>"Please refer to Weaknesses"</a:t>
            </a:r>
            <a:r>
              <a:rPr sz="470" b="0" i="0">
                <a:solidFill>
                  <a:srgbClr val="0369A1"/>
                </a:solidFill>
                <a:latin typeface="Aptos"/>
              </a:rPr>
              <a:t>  [eR4W9tnJoZ]</a:t>
            </a:r>
          </a:p>
          <a:p>
            <a:pPr>
              <a:spcAft>
                <a:spcPts val="35"/>
              </a:spcAft>
            </a:pPr>
            <a:r>
              <a:rPr sz="570" b="1" i="0">
                <a:solidFill>
                  <a:srgbClr val="B45309"/>
                </a:solidFill>
                <a:latin typeface="Aptos"/>
              </a:rPr>
              <a:t>V3: </a:t>
            </a:r>
            <a:r>
              <a:rPr sz="555" b="0" i="1">
                <a:solidFill>
                  <a:srgbClr val="111827"/>
                </a:solidFill>
                <a:latin typeface="Aptos"/>
              </a:rPr>
              <a:t>"This work is too simple"</a:t>
            </a:r>
            <a:r>
              <a:rPr sz="470" b="0" i="0">
                <a:solidFill>
                  <a:srgbClr val="0369A1"/>
                </a:solidFill>
                <a:latin typeface="Aptos"/>
              </a:rPr>
              <a:t>  [eR4W9tnJoZ]</a:t>
            </a:r>
          </a:p>
          <a:p>
            <a:pPr>
              <a:spcAft>
                <a:spcPts val="35"/>
              </a:spcAft>
            </a:pPr>
            <a:r>
              <a:rPr sz="570" b="1" i="0">
                <a:solidFill>
                  <a:srgbClr val="B45309"/>
                </a:solidFill>
                <a:latin typeface="Aptos"/>
              </a:rPr>
              <a:t>V4: </a:t>
            </a:r>
            <a:r>
              <a:rPr sz="555" b="0" i="1">
                <a:solidFill>
                  <a:srgbClr val="111827"/>
                </a:solidFill>
                <a:latin typeface="Aptos"/>
              </a:rPr>
              <a:t>"no new algorithm, but a trick"</a:t>
            </a:r>
            <a:r>
              <a:rPr sz="470" b="0" i="0">
                <a:solidFill>
                  <a:srgbClr val="0369A1"/>
                </a:solidFill>
                <a:latin typeface="Aptos"/>
              </a:rPr>
              <a:t>  [B0wJ5oCPdB]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68496"/>
            <a:ext cx="1600200" cy="73152"/>
          </a:xfrm>
          <a:prstGeom prst="rect">
            <a:avLst/>
          </a:prstGeom>
          <a:noFill/>
        </p:spPr>
        <p:txBody>
          <a:bodyPr wrap="none" lIns="45720" rIns="45720" tIns="32004" bIns="32004" anchor="t">
            <a:spAutoFit/>
          </a:bodyPr>
          <a:lstStyle/>
          <a:p>
            <a:pPr algn="l"/>
            <a:r>
              <a:rPr sz="420" b="0" i="0">
                <a:solidFill>
                  <a:srgbClr val="0369A1"/>
                </a:solidFill>
                <a:latin typeface="Aptos"/>
                <a:hlinkClick r:id="rId4"/>
              </a:rPr>
              <a:t>link: eR4W9tnJoZ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968496"/>
            <a:ext cx="1600200" cy="73152"/>
          </a:xfrm>
          <a:prstGeom prst="rect">
            <a:avLst/>
          </a:prstGeom>
          <a:noFill/>
        </p:spPr>
        <p:txBody>
          <a:bodyPr wrap="none" lIns="45720" rIns="45720" tIns="32004" bIns="32004" anchor="t">
            <a:spAutoFit/>
          </a:bodyPr>
          <a:lstStyle/>
          <a:p>
            <a:pPr algn="l"/>
            <a:r>
              <a:rPr sz="420" b="0" i="0">
                <a:solidFill>
                  <a:srgbClr val="0369A1"/>
                </a:solidFill>
                <a:latin typeface="Aptos"/>
                <a:hlinkClick r:id="rId5"/>
              </a:rPr>
              <a:t>link: B0wJ5oCPdB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" y="4279392"/>
            <a:ext cx="3794760" cy="1408176"/>
          </a:xfrm>
          <a:prstGeom prst="roundRect">
            <a:avLst/>
          </a:prstGeom>
          <a:solidFill>
            <a:srgbClr val="FEF2F2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32004" bIns="32004"/>
          <a:lstStyle/>
          <a:p>
            <a:pPr algn="ctr">
              <a:spcAft>
                <a:spcPts val="45"/>
              </a:spcAft>
            </a:pPr>
            <a:r>
              <a:rPr sz="700" b="1" i="0">
                <a:solidFill>
                  <a:srgbClr val="B91C1C"/>
                </a:solidFill>
                <a:latin typeface="Aptos"/>
              </a:rPr>
              <a:t>C. Tone / wording risk</a:t>
            </a:r>
          </a:p>
          <a:p>
            <a:pPr>
              <a:spcAft>
                <a:spcPts val="35"/>
              </a:spcAft>
            </a:pPr>
            <a:r>
              <a:rPr sz="570" b="1" i="0">
                <a:solidFill>
                  <a:srgbClr val="B91C1C"/>
                </a:solidFill>
                <a:latin typeface="Aptos"/>
              </a:rPr>
              <a:t>T1: </a:t>
            </a:r>
            <a:r>
              <a:rPr sz="555" b="0" i="1">
                <a:solidFill>
                  <a:srgbClr val="111827"/>
                </a:solidFill>
                <a:latin typeface="Aptos"/>
              </a:rPr>
              <a:t>"I have no idea... / why bother writing down..."</a:t>
            </a:r>
            <a:r>
              <a:rPr sz="470" b="0" i="0">
                <a:solidFill>
                  <a:srgbClr val="0369A1"/>
                </a:solidFill>
                <a:latin typeface="Aptos"/>
              </a:rPr>
              <a:t>  [xNdE7RiRyP]</a:t>
            </a:r>
          </a:p>
          <a:p>
            <a:pPr>
              <a:spcAft>
                <a:spcPts val="35"/>
              </a:spcAft>
            </a:pPr>
            <a:r>
              <a:rPr sz="570" b="1" i="0">
                <a:solidFill>
                  <a:srgbClr val="B91C1C"/>
                </a:solidFill>
                <a:latin typeface="Aptos"/>
              </a:rPr>
              <a:t>T2: </a:t>
            </a:r>
            <a:r>
              <a:rPr sz="555" b="0" i="1">
                <a:solidFill>
                  <a:srgbClr val="111827"/>
                </a:solidFill>
                <a:latin typeface="Aptos"/>
              </a:rPr>
              <a:t>"fatal flaws ... faulty assumptions"</a:t>
            </a:r>
            <a:r>
              <a:rPr sz="470" b="0" i="0">
                <a:solidFill>
                  <a:srgbClr val="0369A1"/>
                </a:solidFill>
                <a:latin typeface="Aptos"/>
              </a:rPr>
              <a:t>  [fI6TkT050a]</a:t>
            </a:r>
          </a:p>
          <a:p>
            <a:pPr>
              <a:spcAft>
                <a:spcPts val="35"/>
              </a:spcAft>
            </a:pPr>
            <a:r>
              <a:rPr sz="570" b="1" i="0">
                <a:solidFill>
                  <a:srgbClr val="B91C1C"/>
                </a:solidFill>
                <a:latin typeface="Aptos"/>
              </a:rPr>
              <a:t>T3: </a:t>
            </a:r>
            <a:r>
              <a:rPr sz="555" b="0" i="1">
                <a:solidFill>
                  <a:srgbClr val="111827"/>
                </a:solidFill>
                <a:latin typeface="Aptos"/>
              </a:rPr>
              <a:t>"deeply flawed and presentation slightly misleading"</a:t>
            </a:r>
            <a:r>
              <a:rPr sz="470" b="0" i="0">
                <a:solidFill>
                  <a:srgbClr val="0369A1"/>
                </a:solidFill>
                <a:latin typeface="Aptos"/>
              </a:rPr>
              <a:t>  [fI6TkT050a]</a:t>
            </a:r>
          </a:p>
          <a:p>
            <a:pPr>
              <a:spcAft>
                <a:spcPts val="35"/>
              </a:spcAft>
            </a:pPr>
            <a:r>
              <a:rPr sz="570" b="1" i="0">
                <a:solidFill>
                  <a:srgbClr val="B91C1C"/>
                </a:solidFill>
                <a:latin typeface="Aptos"/>
              </a:rPr>
              <a:t>T4: </a:t>
            </a:r>
            <a:r>
              <a:rPr sz="555" b="0" i="1">
                <a:solidFill>
                  <a:srgbClr val="111827"/>
                </a:solidFill>
                <a:latin typeface="Aptos"/>
              </a:rPr>
              <a:t>"The authors appear to be confused"</a:t>
            </a:r>
            <a:r>
              <a:rPr sz="470" b="0" i="0">
                <a:solidFill>
                  <a:srgbClr val="0369A1"/>
                </a:solidFill>
                <a:latin typeface="Aptos"/>
              </a:rPr>
              <a:t>  [cXs5md5wAq]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22976"/>
            <a:ext cx="1600200" cy="73152"/>
          </a:xfrm>
          <a:prstGeom prst="rect">
            <a:avLst/>
          </a:prstGeom>
          <a:noFill/>
        </p:spPr>
        <p:txBody>
          <a:bodyPr wrap="none" lIns="45720" rIns="45720" tIns="32004" bIns="32004" anchor="t">
            <a:spAutoFit/>
          </a:bodyPr>
          <a:lstStyle/>
          <a:p>
            <a:pPr algn="l"/>
            <a:r>
              <a:rPr sz="420" b="0" i="0">
                <a:solidFill>
                  <a:srgbClr val="0369A1"/>
                </a:solidFill>
                <a:latin typeface="Aptos"/>
                <a:hlinkClick r:id="rId6"/>
              </a:rPr>
              <a:t>link: xNdE7RiRyP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5522976"/>
            <a:ext cx="1600200" cy="73152"/>
          </a:xfrm>
          <a:prstGeom prst="rect">
            <a:avLst/>
          </a:prstGeom>
          <a:noFill/>
        </p:spPr>
        <p:txBody>
          <a:bodyPr wrap="none" lIns="45720" rIns="45720" tIns="32004" bIns="32004" anchor="t">
            <a:spAutoFit/>
          </a:bodyPr>
          <a:lstStyle/>
          <a:p>
            <a:pPr algn="l"/>
            <a:r>
              <a:rPr sz="420" b="0" i="0">
                <a:solidFill>
                  <a:srgbClr val="0369A1"/>
                </a:solidFill>
                <a:latin typeface="Aptos"/>
                <a:hlinkClick r:id="rId7"/>
              </a:rPr>
              <a:t>link: fI6TkT050a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5907024"/>
            <a:ext cx="3730752" cy="301752"/>
          </a:xfrm>
          <a:prstGeom prst="rect">
            <a:avLst/>
          </a:prstGeom>
          <a:noFill/>
        </p:spPr>
        <p:txBody>
          <a:bodyPr wrap="none" lIns="45720" rIns="45720" tIns="32004" bIns="32004" anchor="t">
            <a:spAutoFit/>
          </a:bodyPr>
          <a:lstStyle/>
          <a:p>
            <a:pPr algn="l"/>
            <a:r>
              <a:rPr sz="545" b="0" i="0">
                <a:solidFill>
                  <a:srgbClr val="5B6670"/>
                </a:solidFill>
                <a:latin typeface="Aptos"/>
              </a:rPr>
              <a:t>These are signals, not final judgements: the system audits each reviewer point against evidence before assigning scores.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868680"/>
            <a:ext cx="3529584" cy="201168"/>
          </a:xfrm>
          <a:prstGeom prst="rect">
            <a:avLst/>
          </a:prstGeom>
          <a:noFill/>
        </p:spPr>
        <p:txBody>
          <a:bodyPr wrap="none" lIns="45720" rIns="45720" tIns="32004" bIns="32004" anchor="t">
            <a:spAutoFit/>
          </a:bodyPr>
          <a:lstStyle/>
          <a:p>
            <a:pPr algn="l"/>
            <a:r>
              <a:rPr sz="1130" b="1" i="0">
                <a:solidFill>
                  <a:srgbClr val="0F766E"/>
                </a:solidFill>
                <a:latin typeface="Aptos"/>
              </a:rPr>
              <a:t>2. Technical architecture + data trace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1069848"/>
            <a:ext cx="3529584" cy="137160"/>
          </a:xfrm>
          <a:prstGeom prst="rect">
            <a:avLst/>
          </a:prstGeom>
          <a:noFill/>
        </p:spPr>
        <p:txBody>
          <a:bodyPr wrap="none" lIns="45720" rIns="45720" tIns="32004" bIns="32004" anchor="t">
            <a:spAutoFit/>
          </a:bodyPr>
          <a:lstStyle/>
          <a:p>
            <a:pPr algn="l"/>
            <a:r>
              <a:rPr sz="580" b="0" i="0">
                <a:solidFill>
                  <a:srgbClr val="5B6670"/>
                </a:solidFill>
                <a:latin typeface="Aptos"/>
              </a:rPr>
              <a:t>Architecture nodes on the left; actual TabR data example on the right.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1307592"/>
            <a:ext cx="1078992" cy="128016"/>
          </a:xfrm>
          <a:prstGeom prst="rect">
            <a:avLst/>
          </a:prstGeom>
          <a:noFill/>
        </p:spPr>
        <p:txBody>
          <a:bodyPr wrap="none" lIns="45720" rIns="45720" tIns="32004" bIns="32004" anchor="t">
            <a:spAutoFit/>
          </a:bodyPr>
          <a:lstStyle/>
          <a:p>
            <a:pPr algn="ctr"/>
            <a:r>
              <a:rPr sz="570" b="1" i="0">
                <a:solidFill>
                  <a:srgbClr val="5B6670"/>
                </a:solidFill>
                <a:latin typeface="Aptos"/>
              </a:rPr>
              <a:t>Component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79008" y="1307592"/>
            <a:ext cx="2139696" cy="128016"/>
          </a:xfrm>
          <a:prstGeom prst="rect">
            <a:avLst/>
          </a:prstGeom>
          <a:noFill/>
        </p:spPr>
        <p:txBody>
          <a:bodyPr wrap="none" lIns="45720" rIns="45720" tIns="32004" bIns="32004" anchor="t">
            <a:spAutoFit/>
          </a:bodyPr>
          <a:lstStyle/>
          <a:p>
            <a:pPr algn="ctr"/>
            <a:r>
              <a:rPr sz="570" b="1" i="0">
                <a:solidFill>
                  <a:srgbClr val="5B6670"/>
                </a:solidFill>
                <a:latin typeface="Aptos"/>
              </a:rPr>
              <a:t>Example data flowing through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53712" y="1481328"/>
            <a:ext cx="1097280" cy="475488"/>
          </a:xfrm>
          <a:prstGeom prst="roundRect">
            <a:avLst/>
          </a:prstGeom>
          <a:solidFill>
            <a:srgbClr val="F9FAFB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32004" bIns="32004"/>
          <a:lstStyle/>
          <a:p>
            <a:pPr algn="ctr">
              <a:spcAft>
                <a:spcPts val="0"/>
              </a:spcAft>
            </a:pPr>
            <a:r>
              <a:rPr sz="600" b="1" i="0">
                <a:solidFill>
                  <a:srgbClr val="111827"/>
                </a:solidFill>
                <a:latin typeface="Aptos"/>
              </a:rPr>
              <a:t>Ingestion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32704" y="1636776"/>
            <a:ext cx="128016" cy="91440"/>
          </a:xfrm>
          <a:prstGeom prst="rect">
            <a:avLst/>
          </a:prstGeom>
          <a:noFill/>
        </p:spPr>
        <p:txBody>
          <a:bodyPr wrap="none" lIns="45720" rIns="45720" tIns="32004" bIns="32004" anchor="t">
            <a:spAutoFit/>
          </a:bodyPr>
          <a:lstStyle/>
          <a:p>
            <a:pPr algn="ctr"/>
            <a:r>
              <a:rPr sz="650" b="1" i="0">
                <a:solidFill>
                  <a:srgbClr val="5B6670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97296" y="1481328"/>
            <a:ext cx="2286000" cy="4754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32004" bIns="32004"/>
          <a:lstStyle/>
          <a:p>
            <a:pPr algn="ctr">
              <a:spcAft>
                <a:spcPts val="0"/>
              </a:spcAft>
            </a:pPr>
            <a:r>
              <a:rPr sz="555" b="0" i="0">
                <a:solidFill>
                  <a:srgbClr val="111827"/>
                </a:solidFill>
                <a:latin typeface="Aptos"/>
              </a:rPr>
              <a:t>OpenReview review CEBB2izG6I + paper PDF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53712" y="2112264"/>
            <a:ext cx="1097280" cy="475488"/>
          </a:xfrm>
          <a:prstGeom prst="roundRect">
            <a:avLst/>
          </a:prstGeom>
          <a:solidFill>
            <a:srgbClr val="F0FDFA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32004" bIns="32004"/>
          <a:lstStyle/>
          <a:p>
            <a:pPr algn="ctr">
              <a:spcAft>
                <a:spcPts val="0"/>
              </a:spcAft>
            </a:pPr>
            <a:r>
              <a:rPr sz="600" b="1" i="0">
                <a:solidFill>
                  <a:srgbClr val="0F766E"/>
                </a:solidFill>
                <a:latin typeface="Aptos"/>
              </a:rPr>
              <a:t>Normalization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32704" y="2267712"/>
            <a:ext cx="128016" cy="91440"/>
          </a:xfrm>
          <a:prstGeom prst="rect">
            <a:avLst/>
          </a:prstGeom>
          <a:noFill/>
        </p:spPr>
        <p:txBody>
          <a:bodyPr wrap="none" lIns="45720" rIns="45720" tIns="32004" bIns="32004" anchor="t">
            <a:spAutoFit/>
          </a:bodyPr>
          <a:lstStyle/>
          <a:p>
            <a:pPr algn="ctr"/>
            <a:r>
              <a:rPr sz="650" b="1" i="0">
                <a:solidFill>
                  <a:srgbClr val="5B6670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97296" y="2112264"/>
            <a:ext cx="2286000" cy="4754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32004" bIns="32004"/>
          <a:lstStyle/>
          <a:p>
            <a:pPr algn="ctr">
              <a:spcAft>
                <a:spcPts val="0"/>
              </a:spcAft>
            </a:pPr>
            <a:r>
              <a:rPr sz="555" b="0" i="0">
                <a:solidFill>
                  <a:srgbClr val="111827"/>
                </a:solidFill>
                <a:latin typeface="Aptos"/>
              </a:rPr>
              <a:t>questions chunk; rating normalized to 6/10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53712" y="2743200"/>
            <a:ext cx="1097280" cy="475488"/>
          </a:xfrm>
          <a:prstGeom prst="roundRect">
            <a:avLst/>
          </a:prstGeom>
          <a:solidFill>
            <a:srgbClr val="ECFDF5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32004" bIns="32004"/>
          <a:lstStyle/>
          <a:p>
            <a:pPr algn="ctr">
              <a:spcAft>
                <a:spcPts val="0"/>
              </a:spcAft>
            </a:pPr>
            <a:r>
              <a:rPr sz="600" b="1" i="0">
                <a:solidFill>
                  <a:srgbClr val="047857"/>
                </a:solidFill>
                <a:latin typeface="Aptos"/>
              </a:rPr>
              <a:t>Claim extraction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32704" y="2898648"/>
            <a:ext cx="128016" cy="91440"/>
          </a:xfrm>
          <a:prstGeom prst="rect">
            <a:avLst/>
          </a:prstGeom>
          <a:noFill/>
        </p:spPr>
        <p:txBody>
          <a:bodyPr wrap="none" lIns="45720" rIns="45720" tIns="32004" bIns="32004" anchor="t">
            <a:spAutoFit/>
          </a:bodyPr>
          <a:lstStyle/>
          <a:p>
            <a:pPr algn="ctr"/>
            <a:r>
              <a:rPr sz="650" b="1" i="0">
                <a:solidFill>
                  <a:srgbClr val="5B6670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97296" y="2743200"/>
            <a:ext cx="2286000" cy="4754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32004" bIns="32004"/>
          <a:lstStyle/>
          <a:p>
            <a:pPr algn="ctr">
              <a:spcAft>
                <a:spcPts val="0"/>
              </a:spcAft>
            </a:pPr>
            <a:r>
              <a:rPr sz="555" b="0" i="0">
                <a:solidFill>
                  <a:srgbClr val="111827"/>
                </a:solidFill>
                <a:latin typeface="Aptos"/>
              </a:rPr>
              <a:t>Claim: why choose m=96 and how it affects performance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53712" y="3374136"/>
            <a:ext cx="1097280" cy="475488"/>
          </a:xfrm>
          <a:prstGeom prst="roundRect">
            <a:avLst/>
          </a:prstGeom>
          <a:solidFill>
            <a:srgbClr val="F0F9FF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32004" bIns="32004"/>
          <a:lstStyle/>
          <a:p>
            <a:pPr algn="ctr">
              <a:spcAft>
                <a:spcPts val="0"/>
              </a:spcAft>
            </a:pPr>
            <a:r>
              <a:rPr sz="600" b="1" i="0">
                <a:solidFill>
                  <a:srgbClr val="0369A1"/>
                </a:solidFill>
                <a:latin typeface="Aptos"/>
              </a:rPr>
              <a:t>Evidence retrieval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32704" y="3529584"/>
            <a:ext cx="128016" cy="91440"/>
          </a:xfrm>
          <a:prstGeom prst="rect">
            <a:avLst/>
          </a:prstGeom>
          <a:noFill/>
        </p:spPr>
        <p:txBody>
          <a:bodyPr wrap="none" lIns="45720" rIns="45720" tIns="32004" bIns="32004" anchor="t">
            <a:spAutoFit/>
          </a:bodyPr>
          <a:lstStyle/>
          <a:p>
            <a:pPr algn="ctr"/>
            <a:r>
              <a:rPr sz="650" b="1" i="0">
                <a:solidFill>
                  <a:srgbClr val="5B6670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97296" y="3374136"/>
            <a:ext cx="2286000" cy="4754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32004" bIns="32004"/>
          <a:lstStyle/>
          <a:p>
            <a:pPr algn="ctr">
              <a:spcAft>
                <a:spcPts val="0"/>
              </a:spcAft>
            </a:pPr>
            <a:r>
              <a:rPr sz="555" b="0" i="0">
                <a:solidFill>
                  <a:srgbClr val="111827"/>
                </a:solidFill>
                <a:latin typeface="Aptos"/>
              </a:rPr>
              <a:t>Author response says Section A.6 addresses it; extended results p.30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53712" y="4005072"/>
            <a:ext cx="1097280" cy="475488"/>
          </a:xfrm>
          <a:prstGeom prst="roundRect">
            <a:avLst/>
          </a:prstGeom>
          <a:solidFill>
            <a:srgbClr val="FFF7ED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32004" bIns="32004"/>
          <a:lstStyle/>
          <a:p>
            <a:pPr algn="ctr">
              <a:spcAft>
                <a:spcPts val="0"/>
              </a:spcAft>
            </a:pPr>
            <a:r>
              <a:rPr sz="600" b="1" i="0">
                <a:solidFill>
                  <a:srgbClr val="B45309"/>
                </a:solidFill>
                <a:latin typeface="Aptos"/>
              </a:rPr>
              <a:t>LLM judge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32704" y="4160520"/>
            <a:ext cx="128016" cy="91440"/>
          </a:xfrm>
          <a:prstGeom prst="rect">
            <a:avLst/>
          </a:prstGeom>
          <a:noFill/>
        </p:spPr>
        <p:txBody>
          <a:bodyPr wrap="none" lIns="45720" rIns="45720" tIns="32004" bIns="32004" anchor="t">
            <a:spAutoFit/>
          </a:bodyPr>
          <a:lstStyle/>
          <a:p>
            <a:pPr algn="ctr"/>
            <a:r>
              <a:rPr sz="650" b="1" i="0">
                <a:solidFill>
                  <a:srgbClr val="5B6670"/>
                </a:solidFill>
                <a:latin typeface="Aptos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97296" y="4005072"/>
            <a:ext cx="2286000" cy="4754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32004" bIns="32004"/>
          <a:lstStyle/>
          <a:p>
            <a:pPr algn="ctr">
              <a:spcAft>
                <a:spcPts val="0"/>
              </a:spcAft>
            </a:pPr>
            <a:r>
              <a:rPr sz="555" b="0" i="0">
                <a:solidFill>
                  <a:srgbClr val="111827"/>
                </a:solidFill>
                <a:latin typeface="Aptos"/>
              </a:rPr>
              <a:t>stance=strongly_agree; verdict=supported; confidence=medium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53712" y="4636008"/>
            <a:ext cx="1097280" cy="475488"/>
          </a:xfrm>
          <a:prstGeom prst="roundRect">
            <a:avLst/>
          </a:prstGeom>
          <a:solidFill>
            <a:srgbClr val="FEF2F2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32004" bIns="32004"/>
          <a:lstStyle/>
          <a:p>
            <a:pPr algn="ctr">
              <a:spcAft>
                <a:spcPts val="0"/>
              </a:spcAft>
            </a:pPr>
            <a:r>
              <a:rPr sz="600" b="1" i="0">
                <a:solidFill>
                  <a:srgbClr val="B91C1C"/>
                </a:solidFill>
                <a:latin typeface="Aptos"/>
              </a:rPr>
              <a:t>Reliability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32704" y="4791456"/>
            <a:ext cx="128016" cy="91440"/>
          </a:xfrm>
          <a:prstGeom prst="rect">
            <a:avLst/>
          </a:prstGeom>
          <a:noFill/>
        </p:spPr>
        <p:txBody>
          <a:bodyPr wrap="none" lIns="45720" rIns="45720" tIns="32004" bIns="32004" anchor="t">
            <a:spAutoFit/>
          </a:bodyPr>
          <a:lstStyle/>
          <a:p>
            <a:pPr algn="ctr"/>
            <a:r>
              <a:rPr sz="650" b="1" i="0">
                <a:solidFill>
                  <a:srgbClr val="5B6670"/>
                </a:solidFill>
                <a:latin typeface="Aptos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97296" y="4636008"/>
            <a:ext cx="2286000" cy="4754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32004" bIns="32004"/>
          <a:lstStyle/>
          <a:p>
            <a:pPr algn="ctr">
              <a:spcAft>
                <a:spcPts val="0"/>
              </a:spcAft>
            </a:pPr>
            <a:r>
              <a:rPr sz="555" b="0" i="0">
                <a:solidFill>
                  <a:srgbClr val="111827"/>
                </a:solidFill>
                <a:latin typeface="Aptos"/>
              </a:rPr>
              <a:t>downgrade/flag when quotes or evidence are limited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53712" y="5266944"/>
            <a:ext cx="1097280" cy="475488"/>
          </a:xfrm>
          <a:prstGeom prst="roundRect">
            <a:avLst/>
          </a:prstGeom>
          <a:solidFill>
            <a:srgbClr val="F5F3FF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32004" bIns="32004"/>
          <a:lstStyle/>
          <a:p>
            <a:pPr algn="ctr">
              <a:spcAft>
                <a:spcPts val="0"/>
              </a:spcAft>
            </a:pPr>
            <a:r>
              <a:rPr sz="600" b="1" i="0">
                <a:solidFill>
                  <a:srgbClr val="5B4494"/>
                </a:solidFill>
                <a:latin typeface="Aptos"/>
              </a:rPr>
              <a:t>Report + annotation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32704" y="5422392"/>
            <a:ext cx="128016" cy="91440"/>
          </a:xfrm>
          <a:prstGeom prst="rect">
            <a:avLst/>
          </a:prstGeom>
          <a:noFill/>
        </p:spPr>
        <p:txBody>
          <a:bodyPr wrap="none" lIns="45720" rIns="45720" tIns="32004" bIns="32004" anchor="t">
            <a:spAutoFit/>
          </a:bodyPr>
          <a:lstStyle/>
          <a:p>
            <a:pPr algn="ctr"/>
            <a:r>
              <a:rPr sz="650" b="1" i="0">
                <a:solidFill>
                  <a:srgbClr val="5B6670"/>
                </a:solidFill>
                <a:latin typeface="Aptos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97296" y="5266944"/>
            <a:ext cx="2286000" cy="4754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5B44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32004" bIns="32004"/>
          <a:lstStyle/>
          <a:p>
            <a:pPr algn="ctr">
              <a:spcAft>
                <a:spcPts val="0"/>
              </a:spcAft>
            </a:pPr>
            <a:r>
              <a:rPr sz="555" b="0" i="0">
                <a:solidFill>
                  <a:srgbClr val="111827"/>
                </a:solidFill>
                <a:latin typeface="Aptos"/>
              </a:rPr>
              <a:t>HTML report + human/AI calibration tasks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53712" y="5980176"/>
            <a:ext cx="3529584" cy="25603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32004" bIns="32004"/>
          <a:lstStyle/>
          <a:p>
            <a:pPr algn="ctr">
              <a:spcAft>
                <a:spcPts val="0"/>
              </a:spcAft>
            </a:pPr>
            <a:r>
              <a:rPr sz="520" b="0" i="0">
                <a:solidFill>
                  <a:srgbClr val="E5E7EB"/>
                </a:solidFill>
                <a:latin typeface="Aptos"/>
              </a:rPr>
              <a:t>Why not multi-agent first? MVP priority = traceability, reproducibility, and calibration.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0496" y="868680"/>
            <a:ext cx="3182112" cy="201168"/>
          </a:xfrm>
          <a:prstGeom prst="rect">
            <a:avLst/>
          </a:prstGeom>
          <a:noFill/>
        </p:spPr>
        <p:txBody>
          <a:bodyPr wrap="none" lIns="45720" rIns="45720" tIns="32004" bIns="32004" anchor="t">
            <a:spAutoFit/>
          </a:bodyPr>
          <a:lstStyle/>
          <a:p>
            <a:pPr algn="l"/>
            <a:r>
              <a:rPr sz="1130" b="1" i="0">
                <a:solidFill>
                  <a:srgbClr val="0F766E"/>
                </a:solidFill>
                <a:latin typeface="Aptos"/>
              </a:rPr>
              <a:t>3. Current scoring result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0496" y="1069848"/>
            <a:ext cx="3182112" cy="137160"/>
          </a:xfrm>
          <a:prstGeom prst="rect">
            <a:avLst/>
          </a:prstGeom>
          <a:noFill/>
        </p:spPr>
        <p:txBody>
          <a:bodyPr wrap="none" lIns="45720" rIns="45720" tIns="32004" bIns="32004" anchor="t">
            <a:spAutoFit/>
          </a:bodyPr>
          <a:lstStyle/>
          <a:p>
            <a:pPr algn="l"/>
            <a:r>
              <a:rPr sz="580" b="0" i="0">
                <a:solidFill>
                  <a:srgbClr val="5B6670"/>
                </a:solidFill>
                <a:latin typeface="Aptos"/>
              </a:rPr>
              <a:t>Detailed result for the same TabR review, with zoomed key area.</a:t>
            </a:r>
          </a:p>
        </p:txBody>
      </p:sp>
      <p:pic>
        <p:nvPicPr>
          <p:cNvPr id="47" name="Picture 46" descr="review_scoring_snapshot_CEBB2izG6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0496" y="1280160"/>
            <a:ext cx="2926080" cy="3124458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8650224" y="1389888"/>
            <a:ext cx="603504" cy="20116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" rIns="18288" tIns="9144" bIns="9144"/>
          <a:lstStyle/>
          <a:p>
            <a:pPr algn="ctr">
              <a:spcAft>
                <a:spcPts val="0"/>
              </a:spcAft>
            </a:pPr>
            <a:r>
              <a:rPr sz="520" b="1" i="0">
                <a:solidFill>
                  <a:srgbClr val="FFFFFF"/>
                </a:solidFill>
                <a:latin typeface="Aptos"/>
              </a:rPr>
              <a:t>full</a:t>
            </a:r>
          </a:p>
        </p:txBody>
      </p:sp>
      <p:pic>
        <p:nvPicPr>
          <p:cNvPr id="49" name="Picture 48" descr="review_scoring_snapshot_CEBB2izG6I_zoo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0496" y="4343400"/>
            <a:ext cx="3182112" cy="1909267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8540496" y="6153912"/>
            <a:ext cx="3182112" cy="25603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18288" bIns="32004"/>
          <a:lstStyle/>
          <a:p>
            <a:pPr algn="l">
              <a:spcAft>
                <a:spcPts val="0"/>
              </a:spcAft>
            </a:pPr>
            <a:r>
              <a:rPr sz="520" b="1" i="0">
                <a:solidFill>
                  <a:srgbClr val="D1D5DB"/>
                </a:solidFill>
                <a:latin typeface="Aptos"/>
                <a:hlinkClick r:id="rId10"/>
              </a:rPr>
              <a:t>Demo report</a:t>
            </a:r>
          </a:p>
          <a:p>
            <a:pPr algn="l">
              <a:spcAft>
                <a:spcPts val="0"/>
              </a:spcAft>
            </a:pPr>
            <a:r>
              <a:rPr sz="520" b="1" i="0">
                <a:solidFill>
                  <a:srgbClr val="D1D5DB"/>
                </a:solidFill>
                <a:latin typeface="Aptos"/>
                <a:hlinkClick r:id="rId11"/>
              </a:rPr>
              <a:t>  |  Repo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0896" y="6574536"/>
            <a:ext cx="11430000" cy="109728"/>
          </a:xfrm>
          <a:prstGeom prst="rect">
            <a:avLst/>
          </a:prstGeom>
          <a:noFill/>
        </p:spPr>
        <p:txBody>
          <a:bodyPr wrap="none" lIns="45720" rIns="45720" tIns="32004" bIns="32004" anchor="t">
            <a:spAutoFit/>
          </a:bodyPr>
          <a:lstStyle/>
          <a:p>
            <a:pPr algn="l"/>
            <a:r>
              <a:rPr sz="500" b="0" i="0">
                <a:solidFill>
                  <a:srgbClr val="5B6670"/>
                </a:solidFill>
                <a:latin typeface="Aptos"/>
              </a:rPr>
              <a:t>RQS = Review Quality Score. Current scores are preliminary MVP outputs for calibration, not final ground truth.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