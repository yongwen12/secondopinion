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DEDBA3-39D3-4A5C-B6BA-8D376ECF0889}" type="datetimeFigureOut">
              <a:rPr lang="zh-CN" altLang="en-US" smtClean="0"/>
              <a:t>2026/5/22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39B9B8-F149-47BC-ADBE-C9FEF90A53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0229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9B9B8-F149-47BC-ADBE-C9FEF90A532E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367880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openreview.net/forum?id=cXs5md5wAq" TargetMode="External"/><Relationship Id="rId4" Type="http://schemas.openxmlformats.org/officeDocument/2006/relationships/hyperlink" Target="https://openreview.net/forum?id=eR4W9tnJoZ" TargetMode="External"/><Relationship Id="rId5" Type="http://schemas.openxmlformats.org/officeDocument/2006/relationships/hyperlink" Target="https://openreview.net/forum?id=xNdE7RiRyP" TargetMode="External"/><Relationship Id="rId6" Type="http://schemas.openxmlformats.org/officeDocument/2006/relationships/image" Target="../media/image1.png"/><Relationship Id="rId7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5645776" cy="449354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l"/>
            <a:r>
              <a:rPr sz="2800" b="1" i="1" dirty="0" err="1">
                <a:solidFill>
                  <a:srgbClr val="111827"/>
                </a:solidFill>
                <a:latin typeface="Aptos"/>
              </a:rPr>
              <a:t>SecondOpinion</a:t>
            </a:r>
            <a:r>
              <a:rPr sz="2800" b="1" i="1" dirty="0">
                <a:solidFill>
                  <a:srgbClr val="111827"/>
                </a:solidFill>
                <a:latin typeface="Aptos"/>
              </a:rPr>
              <a:t>: Review Audit MVP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" y="484632"/>
            <a:ext cx="11338560" cy="201168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l"/>
            <a:r>
              <a:rPr sz="1150" b="0" i="0">
                <a:solidFill>
                  <a:srgbClr val="5B6670"/>
                </a:solidFill>
                <a:latin typeface="Aptos"/>
              </a:rPr>
              <a:t>Pilot evidence → evidence-grounded audit architecture → current scoring result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6304" y="749808"/>
            <a:ext cx="3913632" cy="5705856"/>
          </a:xfrm>
          <a:prstGeom prst="roundRect">
            <a:avLst>
              <a:gd name="adj" fmla="val 3972"/>
            </a:avLst>
          </a:prstGeom>
          <a:solidFill>
            <a:schemeClr val="bg1"/>
          </a:solidFill>
          <a:ln w="1905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 dirty="0"/>
          </a:p>
        </p:txBody>
      </p:sp>
      <p:sp>
        <p:nvSpPr>
          <p:cNvPr id="5" name="Rounded Rectangle 4"/>
          <p:cNvSpPr/>
          <p:nvPr/>
        </p:nvSpPr>
        <p:spPr>
          <a:xfrm>
            <a:off x="4169663" y="749808"/>
            <a:ext cx="3968496" cy="5705856"/>
          </a:xfrm>
          <a:custGeom>
            <a:avLst/>
            <a:gdLst>
              <a:gd name="csX0" fmla="*/ 0 w 3968496"/>
              <a:gd name="csY0" fmla="*/ 195091 h 5705856"/>
              <a:gd name="csX1" fmla="*/ 195091 w 3968496"/>
              <a:gd name="csY1" fmla="*/ 0 h 5705856"/>
              <a:gd name="csX2" fmla="*/ 755694 w 3968496"/>
              <a:gd name="csY2" fmla="*/ 0 h 5705856"/>
              <a:gd name="csX3" fmla="*/ 1316296 w 3968496"/>
              <a:gd name="csY3" fmla="*/ 0 h 5705856"/>
              <a:gd name="csX4" fmla="*/ 1876899 w 3968496"/>
              <a:gd name="csY4" fmla="*/ 0 h 5705856"/>
              <a:gd name="csX5" fmla="*/ 2473284 w 3968496"/>
              <a:gd name="csY5" fmla="*/ 0 h 5705856"/>
              <a:gd name="csX6" fmla="*/ 3141236 w 3968496"/>
              <a:gd name="csY6" fmla="*/ 0 h 5705856"/>
              <a:gd name="csX7" fmla="*/ 3773405 w 3968496"/>
              <a:gd name="csY7" fmla="*/ 0 h 5705856"/>
              <a:gd name="csX8" fmla="*/ 3968496 w 3968496"/>
              <a:gd name="csY8" fmla="*/ 195091 h 5705856"/>
              <a:gd name="csX9" fmla="*/ 3968496 w 3968496"/>
              <a:gd name="csY9" fmla="*/ 753237 h 5705856"/>
              <a:gd name="csX10" fmla="*/ 3968496 w 3968496"/>
              <a:gd name="csY10" fmla="*/ 1524010 h 5705856"/>
              <a:gd name="csX11" fmla="*/ 3968496 w 3968496"/>
              <a:gd name="csY11" fmla="*/ 2188469 h 5705856"/>
              <a:gd name="csX12" fmla="*/ 3968496 w 3968496"/>
              <a:gd name="csY12" fmla="*/ 2959241 h 5705856"/>
              <a:gd name="csX13" fmla="*/ 3968496 w 3968496"/>
              <a:gd name="csY13" fmla="*/ 3730014 h 5705856"/>
              <a:gd name="csX14" fmla="*/ 3968496 w 3968496"/>
              <a:gd name="csY14" fmla="*/ 4288160 h 5705856"/>
              <a:gd name="csX15" fmla="*/ 3968496 w 3968496"/>
              <a:gd name="csY15" fmla="*/ 5510765 h 5705856"/>
              <a:gd name="csX16" fmla="*/ 3773405 w 3968496"/>
              <a:gd name="csY16" fmla="*/ 5705856 h 5705856"/>
              <a:gd name="csX17" fmla="*/ 3177019 w 3968496"/>
              <a:gd name="csY17" fmla="*/ 5705856 h 5705856"/>
              <a:gd name="csX18" fmla="*/ 2687983 w 3968496"/>
              <a:gd name="csY18" fmla="*/ 5705856 h 5705856"/>
              <a:gd name="csX19" fmla="*/ 2020031 w 3968496"/>
              <a:gd name="csY19" fmla="*/ 5705856 h 5705856"/>
              <a:gd name="csX20" fmla="*/ 1530995 w 3968496"/>
              <a:gd name="csY20" fmla="*/ 5705856 h 5705856"/>
              <a:gd name="csX21" fmla="*/ 898826 w 3968496"/>
              <a:gd name="csY21" fmla="*/ 5705856 h 5705856"/>
              <a:gd name="csX22" fmla="*/ 195091 w 3968496"/>
              <a:gd name="csY22" fmla="*/ 5705856 h 5705856"/>
              <a:gd name="csX23" fmla="*/ 0 w 3968496"/>
              <a:gd name="csY23" fmla="*/ 5510765 h 5705856"/>
              <a:gd name="csX24" fmla="*/ 0 w 3968496"/>
              <a:gd name="csY24" fmla="*/ 4793149 h 5705856"/>
              <a:gd name="csX25" fmla="*/ 0 w 3968496"/>
              <a:gd name="csY25" fmla="*/ 4235003 h 5705856"/>
              <a:gd name="csX26" fmla="*/ 0 w 3968496"/>
              <a:gd name="csY26" fmla="*/ 3517387 h 5705856"/>
              <a:gd name="csX27" fmla="*/ 0 w 3968496"/>
              <a:gd name="csY27" fmla="*/ 2906085 h 5705856"/>
              <a:gd name="csX28" fmla="*/ 0 w 3968496"/>
              <a:gd name="csY28" fmla="*/ 2241625 h 5705856"/>
              <a:gd name="csX29" fmla="*/ 0 w 3968496"/>
              <a:gd name="csY29" fmla="*/ 1524010 h 5705856"/>
              <a:gd name="csX30" fmla="*/ 0 w 3968496"/>
              <a:gd name="csY30" fmla="*/ 806394 h 5705856"/>
              <a:gd name="csX31" fmla="*/ 0 w 3968496"/>
              <a:gd name="csY31" fmla="*/ 195091 h 57058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3968496" h="5705856" fill="none" extrusionOk="0">
                <a:moveTo>
                  <a:pt x="0" y="195091"/>
                </a:moveTo>
                <a:cubicBezTo>
                  <a:pt x="-3795" y="65198"/>
                  <a:pt x="88121" y="4739"/>
                  <a:pt x="195091" y="0"/>
                </a:cubicBezTo>
                <a:cubicBezTo>
                  <a:pt x="413896" y="11062"/>
                  <a:pt x="582601" y="8499"/>
                  <a:pt x="755694" y="0"/>
                </a:cubicBezTo>
                <a:cubicBezTo>
                  <a:pt x="928787" y="-8499"/>
                  <a:pt x="1203908" y="20834"/>
                  <a:pt x="1316296" y="0"/>
                </a:cubicBezTo>
                <a:cubicBezTo>
                  <a:pt x="1428684" y="-20834"/>
                  <a:pt x="1659931" y="-26938"/>
                  <a:pt x="1876899" y="0"/>
                </a:cubicBezTo>
                <a:cubicBezTo>
                  <a:pt x="2093867" y="26938"/>
                  <a:pt x="2255843" y="6206"/>
                  <a:pt x="2473284" y="0"/>
                </a:cubicBezTo>
                <a:cubicBezTo>
                  <a:pt x="2690725" y="-6206"/>
                  <a:pt x="2969978" y="-32243"/>
                  <a:pt x="3141236" y="0"/>
                </a:cubicBezTo>
                <a:cubicBezTo>
                  <a:pt x="3312494" y="32243"/>
                  <a:pt x="3614373" y="24394"/>
                  <a:pt x="3773405" y="0"/>
                </a:cubicBezTo>
                <a:cubicBezTo>
                  <a:pt x="3903342" y="10549"/>
                  <a:pt x="3964124" y="95110"/>
                  <a:pt x="3968496" y="195091"/>
                </a:cubicBezTo>
                <a:cubicBezTo>
                  <a:pt x="3971547" y="350518"/>
                  <a:pt x="3972391" y="579029"/>
                  <a:pt x="3968496" y="753237"/>
                </a:cubicBezTo>
                <a:cubicBezTo>
                  <a:pt x="3964601" y="927445"/>
                  <a:pt x="3992117" y="1359687"/>
                  <a:pt x="3968496" y="1524010"/>
                </a:cubicBezTo>
                <a:cubicBezTo>
                  <a:pt x="3944875" y="1688333"/>
                  <a:pt x="3981522" y="1967564"/>
                  <a:pt x="3968496" y="2188469"/>
                </a:cubicBezTo>
                <a:cubicBezTo>
                  <a:pt x="3955470" y="2409374"/>
                  <a:pt x="3969590" y="2758036"/>
                  <a:pt x="3968496" y="2959241"/>
                </a:cubicBezTo>
                <a:cubicBezTo>
                  <a:pt x="3967402" y="3160446"/>
                  <a:pt x="3987225" y="3378875"/>
                  <a:pt x="3968496" y="3730014"/>
                </a:cubicBezTo>
                <a:cubicBezTo>
                  <a:pt x="3949767" y="4081153"/>
                  <a:pt x="3987976" y="4146369"/>
                  <a:pt x="3968496" y="4288160"/>
                </a:cubicBezTo>
                <a:cubicBezTo>
                  <a:pt x="3949016" y="4429951"/>
                  <a:pt x="3952804" y="5019883"/>
                  <a:pt x="3968496" y="5510765"/>
                </a:cubicBezTo>
                <a:cubicBezTo>
                  <a:pt x="3970175" y="5616262"/>
                  <a:pt x="3879673" y="5698188"/>
                  <a:pt x="3773405" y="5705856"/>
                </a:cubicBezTo>
                <a:cubicBezTo>
                  <a:pt x="3509286" y="5680668"/>
                  <a:pt x="3302330" y="5687554"/>
                  <a:pt x="3177019" y="5705856"/>
                </a:cubicBezTo>
                <a:cubicBezTo>
                  <a:pt x="3051708" y="5724158"/>
                  <a:pt x="2891837" y="5715438"/>
                  <a:pt x="2687983" y="5705856"/>
                </a:cubicBezTo>
                <a:cubicBezTo>
                  <a:pt x="2484129" y="5696274"/>
                  <a:pt x="2341048" y="5708132"/>
                  <a:pt x="2020031" y="5705856"/>
                </a:cubicBezTo>
                <a:cubicBezTo>
                  <a:pt x="1699014" y="5703580"/>
                  <a:pt x="1708672" y="5709923"/>
                  <a:pt x="1530995" y="5705856"/>
                </a:cubicBezTo>
                <a:cubicBezTo>
                  <a:pt x="1353318" y="5701789"/>
                  <a:pt x="1197450" y="5686499"/>
                  <a:pt x="898826" y="5705856"/>
                </a:cubicBezTo>
                <a:cubicBezTo>
                  <a:pt x="600202" y="5725213"/>
                  <a:pt x="338542" y="5688611"/>
                  <a:pt x="195091" y="5705856"/>
                </a:cubicBezTo>
                <a:cubicBezTo>
                  <a:pt x="87030" y="5685022"/>
                  <a:pt x="2283" y="5621675"/>
                  <a:pt x="0" y="5510765"/>
                </a:cubicBezTo>
                <a:cubicBezTo>
                  <a:pt x="-35608" y="5264664"/>
                  <a:pt x="-35575" y="5033093"/>
                  <a:pt x="0" y="4793149"/>
                </a:cubicBezTo>
                <a:cubicBezTo>
                  <a:pt x="35575" y="4553205"/>
                  <a:pt x="7833" y="4369889"/>
                  <a:pt x="0" y="4235003"/>
                </a:cubicBezTo>
                <a:cubicBezTo>
                  <a:pt x="-7833" y="4100117"/>
                  <a:pt x="-5059" y="3759056"/>
                  <a:pt x="0" y="3517387"/>
                </a:cubicBezTo>
                <a:cubicBezTo>
                  <a:pt x="5059" y="3275718"/>
                  <a:pt x="-23156" y="3164398"/>
                  <a:pt x="0" y="2906085"/>
                </a:cubicBezTo>
                <a:cubicBezTo>
                  <a:pt x="23156" y="2647772"/>
                  <a:pt x="26151" y="2520206"/>
                  <a:pt x="0" y="2241625"/>
                </a:cubicBezTo>
                <a:cubicBezTo>
                  <a:pt x="-26151" y="1963044"/>
                  <a:pt x="16924" y="1723574"/>
                  <a:pt x="0" y="1524010"/>
                </a:cubicBezTo>
                <a:cubicBezTo>
                  <a:pt x="-16924" y="1324447"/>
                  <a:pt x="-17567" y="1071897"/>
                  <a:pt x="0" y="806394"/>
                </a:cubicBezTo>
                <a:cubicBezTo>
                  <a:pt x="17567" y="540891"/>
                  <a:pt x="-10306" y="351870"/>
                  <a:pt x="0" y="195091"/>
                </a:cubicBezTo>
                <a:close/>
              </a:path>
              <a:path w="3968496" h="5705856" stroke="0" extrusionOk="0">
                <a:moveTo>
                  <a:pt x="0" y="195091"/>
                </a:moveTo>
                <a:cubicBezTo>
                  <a:pt x="1865" y="85067"/>
                  <a:pt x="91326" y="20144"/>
                  <a:pt x="195091" y="0"/>
                </a:cubicBezTo>
                <a:cubicBezTo>
                  <a:pt x="332257" y="22200"/>
                  <a:pt x="586080" y="13258"/>
                  <a:pt x="719910" y="0"/>
                </a:cubicBezTo>
                <a:cubicBezTo>
                  <a:pt x="853740" y="-13258"/>
                  <a:pt x="1144289" y="3207"/>
                  <a:pt x="1280513" y="0"/>
                </a:cubicBezTo>
                <a:cubicBezTo>
                  <a:pt x="1416737" y="-3207"/>
                  <a:pt x="1696084" y="18680"/>
                  <a:pt x="1912682" y="0"/>
                </a:cubicBezTo>
                <a:cubicBezTo>
                  <a:pt x="2129280" y="-18680"/>
                  <a:pt x="2267438" y="-6564"/>
                  <a:pt x="2473284" y="0"/>
                </a:cubicBezTo>
                <a:cubicBezTo>
                  <a:pt x="2679130" y="6564"/>
                  <a:pt x="2875363" y="-15673"/>
                  <a:pt x="3105453" y="0"/>
                </a:cubicBezTo>
                <a:cubicBezTo>
                  <a:pt x="3335543" y="15673"/>
                  <a:pt x="3637841" y="-12163"/>
                  <a:pt x="3773405" y="0"/>
                </a:cubicBezTo>
                <a:cubicBezTo>
                  <a:pt x="3889971" y="-4882"/>
                  <a:pt x="3963254" y="84627"/>
                  <a:pt x="3968496" y="195091"/>
                </a:cubicBezTo>
                <a:cubicBezTo>
                  <a:pt x="3973902" y="480051"/>
                  <a:pt x="3995344" y="669896"/>
                  <a:pt x="3968496" y="912707"/>
                </a:cubicBezTo>
                <a:cubicBezTo>
                  <a:pt x="3941648" y="1155518"/>
                  <a:pt x="3969768" y="1261676"/>
                  <a:pt x="3968496" y="1417696"/>
                </a:cubicBezTo>
                <a:cubicBezTo>
                  <a:pt x="3967224" y="1573716"/>
                  <a:pt x="3976565" y="1776480"/>
                  <a:pt x="3968496" y="2028999"/>
                </a:cubicBezTo>
                <a:cubicBezTo>
                  <a:pt x="3960427" y="2281518"/>
                  <a:pt x="3984792" y="2486470"/>
                  <a:pt x="3968496" y="2640301"/>
                </a:cubicBezTo>
                <a:cubicBezTo>
                  <a:pt x="3952200" y="2794132"/>
                  <a:pt x="3963381" y="3005840"/>
                  <a:pt x="3968496" y="3145290"/>
                </a:cubicBezTo>
                <a:cubicBezTo>
                  <a:pt x="3973611" y="3284740"/>
                  <a:pt x="3947840" y="3474086"/>
                  <a:pt x="3968496" y="3703436"/>
                </a:cubicBezTo>
                <a:cubicBezTo>
                  <a:pt x="3989152" y="3932786"/>
                  <a:pt x="3943904" y="4133384"/>
                  <a:pt x="3968496" y="4314738"/>
                </a:cubicBezTo>
                <a:cubicBezTo>
                  <a:pt x="3993088" y="4496092"/>
                  <a:pt x="3973516" y="5181356"/>
                  <a:pt x="3968496" y="5510765"/>
                </a:cubicBezTo>
                <a:cubicBezTo>
                  <a:pt x="3973662" y="5622183"/>
                  <a:pt x="3887015" y="5706318"/>
                  <a:pt x="3773405" y="5705856"/>
                </a:cubicBezTo>
                <a:cubicBezTo>
                  <a:pt x="3593250" y="5698049"/>
                  <a:pt x="3396107" y="5712451"/>
                  <a:pt x="3141236" y="5705856"/>
                </a:cubicBezTo>
                <a:cubicBezTo>
                  <a:pt x="2886365" y="5699261"/>
                  <a:pt x="2750780" y="5733943"/>
                  <a:pt x="2544851" y="5705856"/>
                </a:cubicBezTo>
                <a:cubicBezTo>
                  <a:pt x="2338923" y="5677769"/>
                  <a:pt x="2243047" y="5716518"/>
                  <a:pt x="2020031" y="5705856"/>
                </a:cubicBezTo>
                <a:cubicBezTo>
                  <a:pt x="1797015" y="5695194"/>
                  <a:pt x="1661182" y="5732717"/>
                  <a:pt x="1459429" y="5705856"/>
                </a:cubicBezTo>
                <a:cubicBezTo>
                  <a:pt x="1257676" y="5678995"/>
                  <a:pt x="1060974" y="5732043"/>
                  <a:pt x="934609" y="5705856"/>
                </a:cubicBezTo>
                <a:cubicBezTo>
                  <a:pt x="808244" y="5679669"/>
                  <a:pt x="498246" y="5729760"/>
                  <a:pt x="195091" y="5705856"/>
                </a:cubicBezTo>
                <a:cubicBezTo>
                  <a:pt x="94715" y="5718277"/>
                  <a:pt x="-14342" y="5602414"/>
                  <a:pt x="0" y="5510765"/>
                </a:cubicBezTo>
                <a:cubicBezTo>
                  <a:pt x="5899" y="5246734"/>
                  <a:pt x="21734" y="5026357"/>
                  <a:pt x="0" y="4899462"/>
                </a:cubicBezTo>
                <a:cubicBezTo>
                  <a:pt x="-21734" y="4772567"/>
                  <a:pt x="20164" y="4558080"/>
                  <a:pt x="0" y="4288160"/>
                </a:cubicBezTo>
                <a:cubicBezTo>
                  <a:pt x="-20164" y="4018240"/>
                  <a:pt x="-10095" y="3958922"/>
                  <a:pt x="0" y="3783171"/>
                </a:cubicBezTo>
                <a:cubicBezTo>
                  <a:pt x="10095" y="3607420"/>
                  <a:pt x="4008" y="3452677"/>
                  <a:pt x="0" y="3225025"/>
                </a:cubicBezTo>
                <a:cubicBezTo>
                  <a:pt x="-4008" y="2997373"/>
                  <a:pt x="11924" y="2834989"/>
                  <a:pt x="0" y="2560566"/>
                </a:cubicBezTo>
                <a:cubicBezTo>
                  <a:pt x="-11924" y="2286143"/>
                  <a:pt x="-15175" y="2183965"/>
                  <a:pt x="0" y="2002420"/>
                </a:cubicBezTo>
                <a:cubicBezTo>
                  <a:pt x="15175" y="1820875"/>
                  <a:pt x="-11869" y="1490512"/>
                  <a:pt x="0" y="1231647"/>
                </a:cubicBezTo>
                <a:cubicBezTo>
                  <a:pt x="11869" y="972782"/>
                  <a:pt x="-5065" y="428585"/>
                  <a:pt x="0" y="195091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D8DEE4"/>
            </a:solidFill>
            <a:extLst>
              <a:ext uri="{C807C97D-BFC1-408E-A445-0C87EB9F89A2}">
                <ask:lineSketchStyleProps xmlns:ask="http://schemas.microsoft.com/office/drawing/2018/sketchyshapes" sd="1412595518">
                  <a:prstGeom prst="roundRect">
                    <a:avLst>
                      <a:gd name="adj" fmla="val 4916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47888" y="749808"/>
            <a:ext cx="3803904" cy="5705856"/>
          </a:xfrm>
          <a:prstGeom prst="roundRect">
            <a:avLst>
              <a:gd name="adj" fmla="val 6571"/>
            </a:avLst>
          </a:prstGeom>
          <a:solidFill>
            <a:srgbClr val="FFFFFF"/>
          </a:solidFill>
          <a:ln w="28575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44368" y="809685"/>
            <a:ext cx="1708032" cy="32624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l"/>
            <a:r>
              <a:rPr sz="2000" b="1" i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/>
              </a:rPr>
              <a:t>1. Pilot signals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8100" y="949452"/>
            <a:ext cx="1669560" cy="187744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l"/>
            <a:r>
              <a:rPr sz="1100" b="0" i="0" dirty="0">
                <a:solidFill>
                  <a:srgbClr val="5B6670"/>
                </a:solidFill>
                <a:latin typeface="Aptos"/>
              </a:rPr>
              <a:t>Public ICLR 2024 examples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3" y="1214292"/>
            <a:ext cx="3602736" cy="1592916"/>
          </a:xfrm>
          <a:prstGeom prst="roundRect">
            <a:avLst/>
          </a:prstGeom>
          <a:solidFill>
            <a:srgbClr val="F0FDFA"/>
          </a:solidFill>
          <a:ln w="1143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0584" tIns="64008" rIns="100584" bIns="64008" rtlCol="0" anchor="t"/>
          <a:lstStyle/>
          <a:p>
            <a:pPr algn="ctr">
              <a:spcAft>
                <a:spcPts val="120"/>
              </a:spcAft>
            </a:pPr>
            <a:r>
              <a:rPr b="1" i="0" dirty="0">
                <a:solidFill>
                  <a:srgbClr val="0F766E"/>
                </a:solidFill>
                <a:latin typeface="Aptos"/>
              </a:rPr>
              <a:t>Reviewer conflict</a:t>
            </a:r>
            <a:endParaRPr lang="en-US" b="1" i="0" dirty="0">
              <a:solidFill>
                <a:srgbClr val="0F766E"/>
              </a:solidFill>
              <a:latin typeface="Aptos"/>
            </a:endParaRPr>
          </a:p>
          <a:p>
            <a:pPr algn="ctr">
              <a:spcAft>
                <a:spcPts val="120"/>
              </a:spcAft>
            </a:pPr>
            <a:endParaRPr sz="500" b="1" i="0" dirty="0">
              <a:solidFill>
                <a:srgbClr val="0F766E"/>
              </a:solidFill>
              <a:latin typeface="Aptos"/>
            </a:endParaRPr>
          </a:p>
          <a:p>
            <a:pPr>
              <a:spcAft>
                <a:spcPts val="140"/>
              </a:spcAft>
            </a:pPr>
            <a:r>
              <a:rPr sz="1100" b="1" i="0" dirty="0">
                <a:solidFill>
                  <a:schemeClr val="tx1"/>
                </a:solidFill>
                <a:latin typeface="Aptos"/>
              </a:rPr>
              <a:t>Ex.1 </a:t>
            </a:r>
            <a:r>
              <a:rPr sz="1100" b="1" i="0" dirty="0">
                <a:solidFill>
                  <a:srgbClr val="0F766E"/>
                </a:solidFill>
                <a:latin typeface="Aptos"/>
              </a:rPr>
              <a:t>A: </a:t>
            </a:r>
            <a:r>
              <a:rPr sz="1100" b="0" i="1" dirty="0">
                <a:solidFill>
                  <a:srgbClr val="111827"/>
                </a:solidFill>
                <a:latin typeface="Aptos"/>
              </a:rPr>
              <a:t>"weak on novelty"</a:t>
            </a:r>
            <a:r>
              <a:rPr sz="1000" b="0" i="0" dirty="0">
                <a:solidFill>
                  <a:srgbClr val="5B6670"/>
                </a:solidFill>
                <a:latin typeface="Aptos"/>
              </a:rPr>
              <a:t>  (cXs5md5wAq)</a:t>
            </a:r>
          </a:p>
          <a:p>
            <a:pPr>
              <a:spcAft>
                <a:spcPts val="140"/>
              </a:spcAft>
            </a:pPr>
            <a:r>
              <a:rPr sz="1100" b="1" i="0" dirty="0">
                <a:solidFill>
                  <a:schemeClr val="tx1"/>
                </a:solidFill>
                <a:latin typeface="Aptos"/>
              </a:rPr>
              <a:t>Ex.1 </a:t>
            </a:r>
            <a:r>
              <a:rPr sz="1100" b="1" i="0" dirty="0">
                <a:solidFill>
                  <a:srgbClr val="0F766E"/>
                </a:solidFill>
                <a:latin typeface="Aptos"/>
              </a:rPr>
              <a:t>B: </a:t>
            </a:r>
            <a:r>
              <a:rPr sz="1100" b="0" i="1" dirty="0">
                <a:solidFill>
                  <a:srgbClr val="111827"/>
                </a:solidFill>
                <a:latin typeface="Aptos"/>
              </a:rPr>
              <a:t>"first use of GNN"</a:t>
            </a:r>
            <a:r>
              <a:rPr sz="1000" b="0" i="0" dirty="0">
                <a:solidFill>
                  <a:srgbClr val="5B6670"/>
                </a:solidFill>
                <a:latin typeface="Aptos"/>
              </a:rPr>
              <a:t>  (cXs5md5wAq)</a:t>
            </a:r>
            <a:endParaRPr lang="en-US" sz="1000" b="0" i="0" dirty="0">
              <a:solidFill>
                <a:srgbClr val="5B6670"/>
              </a:solidFill>
              <a:latin typeface="Aptos"/>
            </a:endParaRPr>
          </a:p>
          <a:p>
            <a:pPr>
              <a:spcAft>
                <a:spcPts val="140"/>
              </a:spcAft>
            </a:pPr>
            <a:endParaRPr sz="400" b="0" i="0" dirty="0">
              <a:solidFill>
                <a:srgbClr val="5B6670"/>
              </a:solidFill>
              <a:latin typeface="Aptos"/>
            </a:endParaRPr>
          </a:p>
          <a:p>
            <a:pPr>
              <a:spcAft>
                <a:spcPts val="140"/>
              </a:spcAft>
            </a:pPr>
            <a:r>
              <a:rPr sz="1100" b="1" i="0" dirty="0">
                <a:solidFill>
                  <a:schemeClr val="accent6">
                    <a:lumMod val="75000"/>
                  </a:schemeClr>
                </a:solidFill>
                <a:latin typeface="Aptos"/>
              </a:rPr>
              <a:t>Ex.2 </a:t>
            </a:r>
            <a:r>
              <a:rPr sz="1100" b="1" i="0" dirty="0">
                <a:solidFill>
                  <a:srgbClr val="0F766E"/>
                </a:solidFill>
                <a:latin typeface="Aptos"/>
              </a:rPr>
              <a:t>A: </a:t>
            </a:r>
            <a:r>
              <a:rPr sz="1100" b="0" i="1" dirty="0">
                <a:solidFill>
                  <a:srgbClr val="111827"/>
                </a:solidFill>
                <a:latin typeface="Aptos"/>
              </a:rPr>
              <a:t>"significant advance"</a:t>
            </a:r>
            <a:r>
              <a:rPr sz="1000" b="0" i="0" dirty="0">
                <a:solidFill>
                  <a:srgbClr val="5B6670"/>
                </a:solidFill>
                <a:latin typeface="Aptos"/>
              </a:rPr>
              <a:t>  (</a:t>
            </a:r>
            <a:r>
              <a:rPr sz="1000" b="0" i="0" dirty="0" err="1">
                <a:solidFill>
                  <a:srgbClr val="5B6670"/>
                </a:solidFill>
                <a:latin typeface="Aptos"/>
              </a:rPr>
              <a:t>rhgIgTSSxW</a:t>
            </a:r>
            <a:r>
              <a:rPr sz="1000" b="0" i="0" dirty="0">
                <a:solidFill>
                  <a:srgbClr val="5B6670"/>
                </a:solidFill>
                <a:latin typeface="Aptos"/>
              </a:rPr>
              <a:t>)</a:t>
            </a:r>
          </a:p>
          <a:p>
            <a:pPr>
              <a:spcAft>
                <a:spcPts val="140"/>
              </a:spcAft>
            </a:pPr>
            <a:r>
              <a:rPr sz="1100" b="1" i="0" dirty="0">
                <a:solidFill>
                  <a:schemeClr val="accent6">
                    <a:lumMod val="75000"/>
                  </a:schemeClr>
                </a:solidFill>
                <a:latin typeface="Aptos"/>
              </a:rPr>
              <a:t>Ex.2 </a:t>
            </a:r>
            <a:r>
              <a:rPr sz="1100" b="1" i="0" dirty="0">
                <a:solidFill>
                  <a:srgbClr val="0F766E"/>
                </a:solidFill>
                <a:latin typeface="Aptos"/>
              </a:rPr>
              <a:t>B: </a:t>
            </a:r>
            <a:r>
              <a:rPr sz="1100" b="0" i="1" dirty="0">
                <a:solidFill>
                  <a:srgbClr val="111827"/>
                </a:solidFill>
                <a:latin typeface="Aptos"/>
              </a:rPr>
              <a:t>"module designs unclear"</a:t>
            </a:r>
            <a:r>
              <a:rPr sz="1000" b="0" i="0" dirty="0">
                <a:solidFill>
                  <a:srgbClr val="5B6670"/>
                </a:solidFill>
                <a:latin typeface="Aptos"/>
              </a:rPr>
              <a:t>  (</a:t>
            </a:r>
            <a:r>
              <a:rPr sz="1000" b="0" i="0" dirty="0" err="1">
                <a:solidFill>
                  <a:srgbClr val="5B6670"/>
                </a:solidFill>
                <a:latin typeface="Aptos"/>
              </a:rPr>
              <a:t>rhgIgTSSxW</a:t>
            </a:r>
            <a:r>
              <a:rPr sz="1000" b="0" i="0" dirty="0">
                <a:solidFill>
                  <a:srgbClr val="5B6670"/>
                </a:solidFill>
                <a:latin typeface="Aptos"/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530" y="2528754"/>
            <a:ext cx="1810624" cy="172355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l"/>
            <a:r>
              <a:rPr sz="1000" b="0" i="0" dirty="0">
                <a:solidFill>
                  <a:srgbClr val="0369A1"/>
                </a:solidFill>
                <a:latin typeface="Aptos"/>
                <a:hlinkClick r:id="rId3"/>
              </a:rPr>
              <a:t>links: cXs5md5wAq, </a:t>
            </a:r>
            <a:r>
              <a:rPr sz="1000" b="0" i="0" dirty="0" err="1">
                <a:solidFill>
                  <a:srgbClr val="0369A1"/>
                </a:solidFill>
                <a:latin typeface="Aptos"/>
                <a:hlinkClick r:id="rId3"/>
              </a:rPr>
              <a:t>rhgIgTSSxW</a:t>
            </a:r>
            <a:endParaRPr sz="1000" b="0" i="0" dirty="0">
              <a:solidFill>
                <a:srgbClr val="0369A1"/>
              </a:solidFill>
              <a:latin typeface="Aptos"/>
              <a:hlinkClick r:id="rId3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10896" y="2962655"/>
            <a:ext cx="3602736" cy="1507719"/>
          </a:xfrm>
          <a:prstGeom prst="roundRect">
            <a:avLst/>
          </a:prstGeom>
          <a:solidFill>
            <a:srgbClr val="FFF7ED"/>
          </a:solidFill>
          <a:ln w="1143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0584" tIns="64008" rIns="100584" bIns="64008" rtlCol="0" anchor="t"/>
          <a:lstStyle/>
          <a:p>
            <a:pPr algn="ctr">
              <a:spcAft>
                <a:spcPts val="120"/>
              </a:spcAft>
            </a:pPr>
            <a:r>
              <a:rPr b="1" i="0" dirty="0">
                <a:solidFill>
                  <a:srgbClr val="B45309"/>
                </a:solidFill>
                <a:latin typeface="Aptos"/>
              </a:rPr>
              <a:t>Vague / low-actionability</a:t>
            </a:r>
            <a:endParaRPr lang="en-US" b="1" i="0" dirty="0">
              <a:solidFill>
                <a:srgbClr val="B45309"/>
              </a:solidFill>
              <a:latin typeface="Aptos"/>
            </a:endParaRPr>
          </a:p>
          <a:p>
            <a:pPr algn="ctr">
              <a:spcAft>
                <a:spcPts val="120"/>
              </a:spcAft>
            </a:pPr>
            <a:endParaRPr sz="500" b="1" i="0" dirty="0">
              <a:solidFill>
                <a:srgbClr val="B45309"/>
              </a:solidFill>
              <a:latin typeface="Aptos"/>
            </a:endParaRPr>
          </a:p>
          <a:p>
            <a:pPr>
              <a:spcAft>
                <a:spcPts val="140"/>
              </a:spcAft>
            </a:pPr>
            <a:r>
              <a:rPr sz="1100" b="1" i="0" dirty="0">
                <a:solidFill>
                  <a:srgbClr val="B45309"/>
                </a:solidFill>
                <a:latin typeface="Aptos"/>
              </a:rPr>
              <a:t>V1: </a:t>
            </a:r>
            <a:r>
              <a:rPr sz="1100" b="0" i="1" dirty="0">
                <a:solidFill>
                  <a:srgbClr val="111827"/>
                </a:solidFill>
                <a:latin typeface="Aptos"/>
              </a:rPr>
              <a:t>"presentation is chaotic"</a:t>
            </a:r>
            <a:r>
              <a:rPr sz="1000" b="0" i="0" dirty="0">
                <a:solidFill>
                  <a:srgbClr val="5B6670"/>
                </a:solidFill>
                <a:latin typeface="Aptos"/>
              </a:rPr>
              <a:t>  (eR4W9tnJoZ)</a:t>
            </a:r>
          </a:p>
          <a:p>
            <a:pPr>
              <a:spcAft>
                <a:spcPts val="140"/>
              </a:spcAft>
            </a:pPr>
            <a:r>
              <a:rPr sz="1100" b="1" i="0" dirty="0">
                <a:solidFill>
                  <a:srgbClr val="B45309"/>
                </a:solidFill>
                <a:latin typeface="Aptos"/>
              </a:rPr>
              <a:t>V2: </a:t>
            </a:r>
            <a:r>
              <a:rPr sz="1100" b="0" i="1" dirty="0">
                <a:solidFill>
                  <a:srgbClr val="111827"/>
                </a:solidFill>
                <a:latin typeface="Aptos"/>
              </a:rPr>
              <a:t>"Please refer to Weaknesses"</a:t>
            </a:r>
            <a:r>
              <a:rPr sz="1000" b="0" i="0" dirty="0">
                <a:solidFill>
                  <a:srgbClr val="5B6670"/>
                </a:solidFill>
                <a:latin typeface="Aptos"/>
              </a:rPr>
              <a:t>  (eR4W9tnJoZ)</a:t>
            </a:r>
          </a:p>
          <a:p>
            <a:pPr>
              <a:spcAft>
                <a:spcPts val="140"/>
              </a:spcAft>
            </a:pPr>
            <a:r>
              <a:rPr sz="1100" b="1" i="0" dirty="0">
                <a:solidFill>
                  <a:srgbClr val="B45309"/>
                </a:solidFill>
                <a:latin typeface="Aptos"/>
              </a:rPr>
              <a:t>V3: </a:t>
            </a:r>
            <a:r>
              <a:rPr sz="1100" b="0" i="1" dirty="0">
                <a:solidFill>
                  <a:srgbClr val="111827"/>
                </a:solidFill>
                <a:latin typeface="Aptos"/>
              </a:rPr>
              <a:t>"too simple"</a:t>
            </a:r>
            <a:r>
              <a:rPr sz="1000" b="0" i="0" dirty="0">
                <a:solidFill>
                  <a:srgbClr val="5B6670"/>
                </a:solidFill>
                <a:latin typeface="Aptos"/>
              </a:rPr>
              <a:t>  (eR4W9tnJoZ)</a:t>
            </a:r>
          </a:p>
          <a:p>
            <a:pPr>
              <a:spcAft>
                <a:spcPts val="140"/>
              </a:spcAft>
            </a:pPr>
            <a:r>
              <a:rPr sz="1100" b="1" i="0" dirty="0">
                <a:solidFill>
                  <a:srgbClr val="B45309"/>
                </a:solidFill>
                <a:latin typeface="Aptos"/>
              </a:rPr>
              <a:t>V4: </a:t>
            </a:r>
            <a:r>
              <a:rPr sz="1100" b="0" i="1" dirty="0">
                <a:solidFill>
                  <a:srgbClr val="111827"/>
                </a:solidFill>
                <a:latin typeface="Aptos"/>
              </a:rPr>
              <a:t>"no new algorithm, but a trick"</a:t>
            </a:r>
            <a:r>
              <a:rPr sz="1000" b="0" i="0" dirty="0">
                <a:solidFill>
                  <a:srgbClr val="5B6670"/>
                </a:solidFill>
                <a:latin typeface="Aptos"/>
              </a:rPr>
              <a:t>  (B0wJ5oCPdB)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7858" y="4135587"/>
            <a:ext cx="1820242" cy="172355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l"/>
            <a:r>
              <a:rPr sz="1000" b="0" i="0" dirty="0">
                <a:solidFill>
                  <a:srgbClr val="0369A1"/>
                </a:solidFill>
                <a:latin typeface="Aptos"/>
                <a:hlinkClick r:id="rId4"/>
              </a:rPr>
              <a:t>links: eR4W9tnJoZ, B0wJ5oCPdB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" y="4632667"/>
            <a:ext cx="3602736" cy="1501332"/>
          </a:xfrm>
          <a:prstGeom prst="roundRect">
            <a:avLst/>
          </a:prstGeom>
          <a:solidFill>
            <a:srgbClr val="FEF2F2"/>
          </a:solidFill>
          <a:ln w="1143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0584" tIns="64008" rIns="100584" bIns="64008" rtlCol="0" anchor="t"/>
          <a:lstStyle/>
          <a:p>
            <a:pPr algn="ctr">
              <a:spcAft>
                <a:spcPts val="120"/>
              </a:spcAft>
            </a:pPr>
            <a:r>
              <a:rPr b="1" i="0" dirty="0">
                <a:solidFill>
                  <a:srgbClr val="B91C1C"/>
                </a:solidFill>
                <a:latin typeface="Aptos"/>
              </a:rPr>
              <a:t>Tone risk</a:t>
            </a:r>
            <a:endParaRPr lang="en-US" b="1" dirty="0">
              <a:solidFill>
                <a:srgbClr val="B91C1C"/>
              </a:solidFill>
              <a:latin typeface="Aptos"/>
            </a:endParaRPr>
          </a:p>
          <a:p>
            <a:pPr algn="ctr">
              <a:spcAft>
                <a:spcPts val="120"/>
              </a:spcAft>
            </a:pPr>
            <a:endParaRPr sz="500" b="1" i="0" dirty="0">
              <a:solidFill>
                <a:srgbClr val="B91C1C"/>
              </a:solidFill>
              <a:latin typeface="Aptos"/>
            </a:endParaRPr>
          </a:p>
          <a:p>
            <a:pPr>
              <a:spcAft>
                <a:spcPts val="140"/>
              </a:spcAft>
            </a:pPr>
            <a:r>
              <a:rPr sz="1100" b="1" i="0" dirty="0">
                <a:solidFill>
                  <a:srgbClr val="B91C1C"/>
                </a:solidFill>
                <a:latin typeface="Aptos"/>
              </a:rPr>
              <a:t>T1: </a:t>
            </a:r>
            <a:r>
              <a:rPr sz="1100" b="0" i="1" dirty="0">
                <a:solidFill>
                  <a:srgbClr val="111827"/>
                </a:solidFill>
                <a:latin typeface="Aptos"/>
              </a:rPr>
              <a:t>"I have no idea / why bother"</a:t>
            </a:r>
            <a:r>
              <a:rPr sz="1000" b="0" i="0" dirty="0">
                <a:solidFill>
                  <a:srgbClr val="5B6670"/>
                </a:solidFill>
                <a:latin typeface="Aptos"/>
              </a:rPr>
              <a:t>  (xNdE7RiRyP)</a:t>
            </a:r>
          </a:p>
          <a:p>
            <a:pPr>
              <a:spcAft>
                <a:spcPts val="140"/>
              </a:spcAft>
            </a:pPr>
            <a:r>
              <a:rPr sz="1100" b="1" i="0" dirty="0">
                <a:solidFill>
                  <a:srgbClr val="B91C1C"/>
                </a:solidFill>
                <a:latin typeface="Aptos"/>
              </a:rPr>
              <a:t>T2: </a:t>
            </a:r>
            <a:r>
              <a:rPr sz="1100" b="0" i="1" dirty="0">
                <a:solidFill>
                  <a:srgbClr val="111827"/>
                </a:solidFill>
                <a:latin typeface="Aptos"/>
              </a:rPr>
              <a:t>"fatal flaws"</a:t>
            </a:r>
            <a:r>
              <a:rPr sz="1000" b="0" i="0" dirty="0">
                <a:solidFill>
                  <a:srgbClr val="5B6670"/>
                </a:solidFill>
                <a:latin typeface="Aptos"/>
              </a:rPr>
              <a:t>  (fI6TkT050a)</a:t>
            </a:r>
          </a:p>
          <a:p>
            <a:pPr>
              <a:spcAft>
                <a:spcPts val="140"/>
              </a:spcAft>
            </a:pPr>
            <a:r>
              <a:rPr sz="1100" b="1" i="0" dirty="0">
                <a:solidFill>
                  <a:srgbClr val="B91C1C"/>
                </a:solidFill>
                <a:latin typeface="Aptos"/>
              </a:rPr>
              <a:t>T3: </a:t>
            </a:r>
            <a:r>
              <a:rPr sz="1100" b="0" i="1" dirty="0">
                <a:solidFill>
                  <a:srgbClr val="111827"/>
                </a:solidFill>
                <a:latin typeface="Aptos"/>
              </a:rPr>
              <a:t>"deeply flawed"</a:t>
            </a:r>
            <a:r>
              <a:rPr sz="1000" b="0" i="0" dirty="0">
                <a:solidFill>
                  <a:srgbClr val="5B6670"/>
                </a:solidFill>
                <a:latin typeface="Aptos"/>
              </a:rPr>
              <a:t>  (fI6TkT050a)</a:t>
            </a:r>
          </a:p>
          <a:p>
            <a:pPr>
              <a:spcAft>
                <a:spcPts val="140"/>
              </a:spcAft>
            </a:pPr>
            <a:r>
              <a:rPr sz="1100" b="1" i="0" dirty="0">
                <a:solidFill>
                  <a:srgbClr val="B91C1C"/>
                </a:solidFill>
                <a:latin typeface="Aptos"/>
              </a:rPr>
              <a:t>T4: </a:t>
            </a:r>
            <a:r>
              <a:rPr sz="1100" b="0" i="1" dirty="0">
                <a:solidFill>
                  <a:srgbClr val="111827"/>
                </a:solidFill>
                <a:latin typeface="Aptos"/>
              </a:rPr>
              <a:t>"authors appear to be confused"</a:t>
            </a:r>
            <a:r>
              <a:rPr sz="1000" b="0" i="0" dirty="0">
                <a:solidFill>
                  <a:srgbClr val="5B6670"/>
                </a:solidFill>
                <a:latin typeface="Aptos"/>
              </a:rPr>
              <a:t>  (cXs5md5wAq)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1579" y="5845529"/>
            <a:ext cx="1677575" cy="172355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l"/>
            <a:r>
              <a:rPr sz="1000" b="0" i="0" dirty="0">
                <a:solidFill>
                  <a:srgbClr val="0369A1"/>
                </a:solidFill>
                <a:latin typeface="Aptos"/>
                <a:hlinkClick r:id="rId5"/>
              </a:rPr>
              <a:t>links: xNdE7RiRyP, fI6TkT050a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1752" y="6168069"/>
            <a:ext cx="3602736" cy="347472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64008" rIns="73152" bIns="64008" rtlCol="0" anchor="t"/>
          <a:lstStyle/>
          <a:p>
            <a:pPr algn="ctr">
              <a:spcAft>
                <a:spcPts val="0"/>
              </a:spcAft>
            </a:pPr>
            <a:r>
              <a:rPr sz="1050" b="1" i="0" dirty="0">
                <a:solidFill>
                  <a:schemeClr val="tx1"/>
                </a:solidFill>
                <a:latin typeface="Aptos"/>
              </a:rPr>
              <a:t>Audit review quality, </a:t>
            </a:r>
            <a:r>
              <a:rPr lang="en-US" altLang="zh-CN" sz="1050" b="1" i="0" dirty="0">
                <a:solidFill>
                  <a:schemeClr val="tx1"/>
                </a:solidFill>
                <a:latin typeface="Aptos"/>
              </a:rPr>
              <a:t>and then assist on rebuttal</a:t>
            </a:r>
            <a:endParaRPr sz="1050" b="1" i="0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8412480" y="799047"/>
            <a:ext cx="2838790" cy="32624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r>
              <a:rPr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/>
              </a:rPr>
              <a:t>3. Current scoring result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80" y="1188720"/>
            <a:ext cx="3429000" cy="173736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l"/>
            <a:r>
              <a:rPr sz="919" b="0" i="0">
                <a:solidFill>
                  <a:srgbClr val="5B6670"/>
                </a:solidFill>
                <a:latin typeface="Aptos"/>
              </a:rPr>
              <a:t>Full scorecard + large zoom for presenting</a:t>
            </a:r>
          </a:p>
        </p:txBody>
      </p:sp>
      <p:pic>
        <p:nvPicPr>
          <p:cNvPr id="54" name="Picture 53" descr="review_scoring_snapshot_CEBB2izG6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1624" y="1463040"/>
            <a:ext cx="2103120" cy="2245704"/>
          </a:xfrm>
          <a:prstGeom prst="rect">
            <a:avLst/>
          </a:prstGeom>
        </p:spPr>
      </p:pic>
      <p:sp>
        <p:nvSpPr>
          <p:cNvPr id="55" name="Rounded Rectangle 54"/>
          <p:cNvSpPr/>
          <p:nvPr/>
        </p:nvSpPr>
        <p:spPr>
          <a:xfrm>
            <a:off x="8513064" y="1554480"/>
            <a:ext cx="585216" cy="219456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13716" rIns="18288" bIns="13716" rtlCol="0" anchor="t"/>
          <a:lstStyle/>
          <a:p>
            <a:pPr algn="ctr">
              <a:spcAft>
                <a:spcPts val="0"/>
              </a:spcAft>
            </a:pPr>
            <a:r>
              <a:rPr sz="720" b="1" i="0">
                <a:solidFill>
                  <a:srgbClr val="FFFFFF"/>
                </a:solidFill>
                <a:latin typeface="Aptos"/>
              </a:rPr>
              <a:t>full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661904" y="1463040"/>
            <a:ext cx="1170432" cy="20116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73152" rIns="45720" bIns="73152" rtlCol="0" anchor="t"/>
          <a:lstStyle/>
          <a:p>
            <a:pPr algn="ctr">
              <a:spcAft>
                <a:spcPts val="0"/>
              </a:spcAft>
            </a:pPr>
            <a:r>
              <a:rPr sz="1250" b="1" i="0" dirty="0">
                <a:solidFill>
                  <a:srgbClr val="B91C1C"/>
                </a:solidFill>
                <a:latin typeface="Aptos"/>
              </a:rPr>
              <a:t>RQS</a:t>
            </a:r>
          </a:p>
          <a:p>
            <a:pPr algn="ctr">
              <a:spcAft>
                <a:spcPts val="100"/>
              </a:spcAft>
            </a:pPr>
            <a:r>
              <a:rPr sz="3400" b="1" i="0" dirty="0">
                <a:solidFill>
                  <a:srgbClr val="B91C1C"/>
                </a:solidFill>
                <a:latin typeface="Aptos"/>
              </a:rPr>
              <a:t>54</a:t>
            </a:r>
          </a:p>
          <a:p>
            <a:pPr algn="ctr">
              <a:spcAft>
                <a:spcPts val="50"/>
              </a:spcAft>
            </a:pPr>
            <a:r>
              <a:rPr sz="1050" b="1" i="0" dirty="0">
                <a:solidFill>
                  <a:srgbClr val="0F766E"/>
                </a:solidFill>
                <a:latin typeface="Aptos"/>
              </a:rPr>
              <a:t>Claim 2</a:t>
            </a:r>
          </a:p>
          <a:p>
            <a:pPr algn="ctr">
              <a:spcAft>
                <a:spcPts val="20"/>
              </a:spcAft>
            </a:pPr>
            <a:r>
              <a:rPr sz="1120" b="1" i="0" dirty="0">
                <a:solidFill>
                  <a:srgbClr val="047857"/>
                </a:solidFill>
                <a:latin typeface="Aptos"/>
              </a:rPr>
              <a:t>supported</a:t>
            </a:r>
          </a:p>
          <a:p>
            <a:pPr algn="ctr">
              <a:spcAft>
                <a:spcPts val="0"/>
              </a:spcAft>
            </a:pPr>
            <a:r>
              <a:rPr sz="830" b="0" i="0" dirty="0">
                <a:solidFill>
                  <a:srgbClr val="5B6670"/>
                </a:solidFill>
                <a:latin typeface="Aptos"/>
              </a:rPr>
              <a:t>medium confidence</a:t>
            </a:r>
          </a:p>
        </p:txBody>
      </p:sp>
      <p:pic>
        <p:nvPicPr>
          <p:cNvPr id="57" name="Picture 56" descr="review_scoring_snapshot_CEBB2izG6I_zoo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1624" y="3639312"/>
            <a:ext cx="3419856" cy="2051914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292608" y="6583680"/>
            <a:ext cx="11430000" cy="109728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l"/>
            <a:r>
              <a:rPr sz="690" b="0" i="0">
                <a:solidFill>
                  <a:srgbClr val="5B6670"/>
                </a:solidFill>
                <a:latin typeface="Aptos"/>
              </a:rPr>
              <a:t>RQS = Review Quality Score. Preliminary MVP outputs for calibration, not final ground truth.</a:t>
            </a:r>
          </a:p>
        </p:txBody>
      </p:sp>
      <p:sp>
        <p:nvSpPr>
          <p:cNvPr id="60" name="Rounded Rectangle 50">
            <a:extLst>
              <a:ext uri="{FF2B5EF4-FFF2-40B4-BE49-F238E27FC236}">
                <a16:creationId xmlns:a16="http://schemas.microsoft.com/office/drawing/2014/main" id="{9BAE8673-B03D-753E-D52A-30FCD464C3DA}"/>
              </a:ext>
            </a:extLst>
          </p:cNvPr>
          <p:cNvSpPr/>
          <p:nvPr/>
        </p:nvSpPr>
        <p:spPr>
          <a:xfrm>
            <a:off x="8412480" y="6163056"/>
            <a:ext cx="3547872" cy="2286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36576" rIns="45720" bIns="36576" rtlCol="0" anchor="t"/>
          <a:lstStyle/>
          <a:p>
            <a:pPr algn="ctr"/>
            <a:endParaRPr sz="1000" b="1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4325112" y="859536"/>
            <a:ext cx="3611880" cy="27432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/>
            <a:r>
              <a:rPr sz="1550" b="1" i="0">
                <a:solidFill>
                  <a:srgbClr val="0F766E"/>
                </a:solidFill>
                <a:latin typeface="Aptos"/>
              </a:rPr>
              <a:t>2. Audit flow on one real review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334256" y="1170432"/>
            <a:ext cx="3611880" cy="15544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/>
            <a:r>
              <a:rPr sz="880" b="0" i="0">
                <a:solidFill>
                  <a:srgbClr val="5B6670"/>
                </a:solidFill>
                <a:latin typeface="Aptos"/>
              </a:rPr>
              <a:t>Raw review → claims → evidence → judgement → guidance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334256" y="1389888"/>
            <a:ext cx="3621024" cy="960120"/>
          </a:xfrm>
          <a:prstGeom prst="roundRect">
            <a:avLst/>
          </a:prstGeom>
          <a:solidFill>
            <a:srgbClr val="F9FAFB"/>
          </a:solidFill>
          <a:ln w="1143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50292" bIns="50292"/>
          <a:lstStyle/>
          <a:p>
            <a:pPr algn="ctr">
              <a:spcAft>
                <a:spcPts val="60"/>
              </a:spcAft>
            </a:pPr>
            <a:r>
              <a:rPr sz="1019" b="1" i="0">
                <a:solidFill>
                  <a:srgbClr val="111827"/>
                </a:solidFill>
                <a:latin typeface="Aptos"/>
              </a:rPr>
              <a:t>Reviewer wrote</a:t>
            </a:r>
          </a:p>
          <a:p>
            <a:pPr>
              <a:spcAft>
                <a:spcPts val="35"/>
              </a:spcAft>
            </a:pPr>
            <a:r>
              <a:rPr sz="750" b="0" i="0">
                <a:solidFill>
                  <a:srgbClr val="111827"/>
                </a:solidFill>
                <a:latin typeface="Aptos"/>
              </a:rPr>
              <a:t>Weakness: "Some aspects are not clear, see the questions section."</a:t>
            </a:r>
          </a:p>
          <a:p>
            <a:pPr>
              <a:spcAft>
                <a:spcPts val="35"/>
              </a:spcAft>
            </a:pPr>
            <a:r>
              <a:rPr sz="750" b="0" i="0">
                <a:solidFill>
                  <a:srgbClr val="111827"/>
                </a:solidFill>
                <a:latin typeface="Aptos"/>
              </a:rPr>
              <a:t>Questions: m=96 choice; efficiency vs GBDT; categorical features?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784848" y="1458468"/>
            <a:ext cx="1005840" cy="173736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" rIns="22860" tIns="9144" bIns="9144"/>
          <a:lstStyle/>
          <a:p>
            <a:pPr algn="ctr">
              <a:spcAft>
                <a:spcPts val="0"/>
              </a:spcAft>
            </a:pPr>
            <a:r>
              <a:rPr sz="580" b="1" i="0">
                <a:solidFill>
                  <a:srgbClr val="FFFFFF"/>
                </a:solidFill>
                <a:latin typeface="Aptos"/>
              </a:rPr>
              <a:t>INPUT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016752" y="2386584"/>
            <a:ext cx="256032" cy="12801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/>
            <a:r>
              <a:rPr sz="1200" b="1" i="0">
                <a:solidFill>
                  <a:srgbClr val="5B6670"/>
                </a:solidFill>
                <a:latin typeface="Aptos"/>
              </a:rPr>
              <a:t>↓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334256" y="2587752"/>
            <a:ext cx="3621024" cy="804672"/>
          </a:xfrm>
          <a:prstGeom prst="roundRect">
            <a:avLst/>
          </a:prstGeom>
          <a:solidFill>
            <a:srgbClr val="ECFDF5"/>
          </a:solidFill>
          <a:ln w="1143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50292" bIns="50292"/>
          <a:lstStyle/>
          <a:p>
            <a:pPr algn="ctr">
              <a:spcAft>
                <a:spcPts val="60"/>
              </a:spcAft>
            </a:pPr>
            <a:r>
              <a:rPr sz="1019" b="1" i="0">
                <a:solidFill>
                  <a:srgbClr val="047857"/>
                </a:solidFill>
                <a:latin typeface="Aptos"/>
              </a:rPr>
              <a:t>System extracts review points</a:t>
            </a:r>
          </a:p>
          <a:p>
            <a:pPr>
              <a:spcAft>
                <a:spcPts val="35"/>
              </a:spcAft>
            </a:pPr>
            <a:r>
              <a:rPr sz="800" b="0" i="0">
                <a:solidFill>
                  <a:srgbClr val="111827"/>
                </a:solidFill>
                <a:latin typeface="Aptos"/>
              </a:rPr>
              <a:t>C1 clarity issue  |  C2 m=96 sensitivity</a:t>
            </a:r>
          </a:p>
          <a:p>
            <a:pPr>
              <a:spcAft>
                <a:spcPts val="35"/>
              </a:spcAft>
            </a:pPr>
            <a:r>
              <a:rPr sz="800" b="0" i="0">
                <a:solidFill>
                  <a:srgbClr val="111827"/>
                </a:solidFill>
                <a:latin typeface="Aptos"/>
              </a:rPr>
              <a:t>C3 inference efficiency  |  C4 categorical support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784848" y="2656332"/>
            <a:ext cx="1005840" cy="173736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" rIns="22860" tIns="9144" bIns="9144"/>
          <a:lstStyle/>
          <a:p>
            <a:pPr algn="ctr">
              <a:spcAft>
                <a:spcPts val="0"/>
              </a:spcAft>
            </a:pPr>
            <a:r>
              <a:rPr sz="580" b="1" i="0">
                <a:solidFill>
                  <a:srgbClr val="FFFFFF"/>
                </a:solidFill>
                <a:latin typeface="Aptos"/>
              </a:rPr>
              <a:t>LLM: gpt-5-nano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016752" y="3429000"/>
            <a:ext cx="256032" cy="12801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/>
            <a:r>
              <a:rPr sz="1200" b="1" i="0">
                <a:solidFill>
                  <a:srgbClr val="5B6670"/>
                </a:solidFill>
                <a:latin typeface="Aptos"/>
              </a:rPr>
              <a:t>↓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334256" y="3630168"/>
            <a:ext cx="3621024" cy="731520"/>
          </a:xfrm>
          <a:prstGeom prst="roundRect">
            <a:avLst/>
          </a:prstGeom>
          <a:solidFill>
            <a:srgbClr val="F0F9FF"/>
          </a:solidFill>
          <a:ln w="1143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50292" bIns="50292"/>
          <a:lstStyle/>
          <a:p>
            <a:pPr algn="ctr">
              <a:spcAft>
                <a:spcPts val="60"/>
              </a:spcAft>
            </a:pPr>
            <a:r>
              <a:rPr sz="1019" b="1" i="0">
                <a:solidFill>
                  <a:srgbClr val="0369A1"/>
                </a:solidFill>
                <a:latin typeface="Aptos"/>
              </a:rPr>
              <a:t>Evidence found</a:t>
            </a:r>
          </a:p>
          <a:p>
            <a:pPr>
              <a:spcAft>
                <a:spcPts val="35"/>
              </a:spcAft>
            </a:pPr>
            <a:r>
              <a:rPr sz="800" b="0" i="0">
                <a:solidFill>
                  <a:srgbClr val="111827"/>
                </a:solidFill>
                <a:latin typeface="Aptos"/>
              </a:rPr>
              <a:t>Search paper chunks + appendix + author response</a:t>
            </a:r>
          </a:p>
          <a:p>
            <a:pPr>
              <a:spcAft>
                <a:spcPts val="35"/>
              </a:spcAft>
            </a:pPr>
            <a:r>
              <a:rPr sz="800" b="0" i="0">
                <a:solidFill>
                  <a:srgbClr val="111827"/>
                </a:solidFill>
                <a:latin typeface="Aptos"/>
              </a:rPr>
              <a:t>Match: Section A.6 + extended results p.30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784848" y="3698748"/>
            <a:ext cx="1005840" cy="173736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" rIns="22860" tIns="9144" bIns="9144"/>
          <a:lstStyle/>
          <a:p>
            <a:pPr algn="ctr">
              <a:spcAft>
                <a:spcPts val="0"/>
              </a:spcAft>
            </a:pPr>
            <a:r>
              <a:rPr sz="580" b="1" i="0">
                <a:solidFill>
                  <a:srgbClr val="FFFFFF"/>
                </a:solidFill>
                <a:latin typeface="Aptos"/>
              </a:rPr>
              <a:t>LOCAL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16752" y="4398264"/>
            <a:ext cx="256032" cy="12801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/>
            <a:r>
              <a:rPr sz="1200" b="1" i="0">
                <a:solidFill>
                  <a:srgbClr val="5B6670"/>
                </a:solidFill>
                <a:latin typeface="Aptos"/>
              </a:rPr>
              <a:t>↓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334256" y="4599432"/>
            <a:ext cx="3621024" cy="713232"/>
          </a:xfrm>
          <a:prstGeom prst="roundRect">
            <a:avLst/>
          </a:prstGeom>
          <a:solidFill>
            <a:srgbClr val="FFF7ED"/>
          </a:solidFill>
          <a:ln w="1143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50292" bIns="50292"/>
          <a:lstStyle/>
          <a:p>
            <a:pPr algn="ctr">
              <a:spcAft>
                <a:spcPts val="60"/>
              </a:spcAft>
            </a:pPr>
            <a:r>
              <a:rPr sz="1019" b="1" i="0">
                <a:solidFill>
                  <a:srgbClr val="B45309"/>
                </a:solidFill>
                <a:latin typeface="Aptos"/>
              </a:rPr>
              <a:t>SecondOpinion judges C2</a:t>
            </a:r>
          </a:p>
          <a:p>
            <a:pPr>
              <a:spcAft>
                <a:spcPts val="35"/>
              </a:spcAft>
            </a:pPr>
            <a:r>
              <a:rPr sz="800" b="0" i="0">
                <a:solidFill>
                  <a:srgbClr val="111827"/>
                </a:solidFill>
                <a:latin typeface="Aptos"/>
              </a:rPr>
              <a:t>strongly_agree  /  supported  /  medium confidence</a:t>
            </a:r>
          </a:p>
          <a:p>
            <a:pPr>
              <a:spcAft>
                <a:spcPts val="35"/>
              </a:spcAft>
            </a:pPr>
            <a:r>
              <a:rPr sz="800" b="0" i="0">
                <a:solidFill>
                  <a:srgbClr val="111827"/>
                </a:solidFill>
                <a:latin typeface="Aptos"/>
              </a:rPr>
              <a:t>Guidance: add an m-ablation summary/table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784848" y="4668012"/>
            <a:ext cx="1005840" cy="173736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" rIns="22860" tIns="9144" bIns="9144"/>
          <a:lstStyle/>
          <a:p>
            <a:pPr algn="ctr">
              <a:spcAft>
                <a:spcPts val="0"/>
              </a:spcAft>
            </a:pPr>
            <a:r>
              <a:rPr sz="580" b="1" i="0">
                <a:solidFill>
                  <a:srgbClr val="FFFFFF"/>
                </a:solidFill>
                <a:latin typeface="Aptos"/>
              </a:rPr>
              <a:t>LLM: gpt-5-nano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016752" y="5349240"/>
            <a:ext cx="256032" cy="12801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/>
            <a:r>
              <a:rPr sz="1200" b="1" i="0">
                <a:solidFill>
                  <a:srgbClr val="5B6670"/>
                </a:solidFill>
                <a:latin typeface="Aptos"/>
              </a:rPr>
              <a:t>↓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334256" y="5550408"/>
            <a:ext cx="3621024" cy="548640"/>
          </a:xfrm>
          <a:prstGeom prst="roundRect">
            <a:avLst/>
          </a:prstGeom>
          <a:solidFill>
            <a:srgbClr val="FEF2F2"/>
          </a:solidFill>
          <a:ln w="1143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50292" bIns="50292"/>
          <a:lstStyle/>
          <a:p>
            <a:pPr algn="ctr">
              <a:spcAft>
                <a:spcPts val="60"/>
              </a:spcAft>
            </a:pPr>
            <a:r>
              <a:rPr sz="1019" b="1" i="0">
                <a:solidFill>
                  <a:srgbClr val="B91C1C"/>
                </a:solidFill>
                <a:latin typeface="Aptos"/>
              </a:rPr>
              <a:t>Reliability + report</a:t>
            </a:r>
          </a:p>
          <a:p>
            <a:pPr>
              <a:spcAft>
                <a:spcPts val="35"/>
              </a:spcAft>
            </a:pPr>
            <a:r>
              <a:rPr sz="800" b="0" i="0">
                <a:solidFill>
                  <a:srgbClr val="111827"/>
                </a:solidFill>
                <a:latin typeface="Aptos"/>
              </a:rPr>
              <a:t>Verify quotes, flag weak evidence, output RQS + HTML report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784848" y="5618988"/>
            <a:ext cx="1005840" cy="173736"/>
          </a:xfrm>
          <a:prstGeom prst="round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" rIns="22860" tIns="9144" bIns="9144"/>
          <a:lstStyle/>
          <a:p>
            <a:pPr algn="ctr">
              <a:spcAft>
                <a:spcPts val="0"/>
              </a:spcAft>
            </a:pPr>
            <a:r>
              <a:rPr sz="580" b="1" i="0">
                <a:solidFill>
                  <a:srgbClr val="FFFFFF"/>
                </a:solidFill>
                <a:latin typeface="Aptos"/>
              </a:rPr>
              <a:t>LOCAL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334256" y="6208776"/>
            <a:ext cx="3621024" cy="20116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576" rIns="36576" tIns="22860" bIns="22860"/>
          <a:lstStyle/>
          <a:p>
            <a:pPr algn="ctr">
              <a:spcAft>
                <a:spcPts val="0"/>
              </a:spcAft>
            </a:pPr>
            <a:r>
              <a:rPr sz="700" b="0" i="0">
                <a:solidFill>
                  <a:srgbClr val="E5E7EB"/>
                </a:solidFill>
                <a:latin typeface="Aptos"/>
              </a:rPr>
              <a:t>Two LLM calls; retrieval, reliability checks, and reporting stay local.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327</Words>
  <Application>Microsoft Office PowerPoint</Application>
  <PresentationFormat>宽屏</PresentationFormat>
  <Paragraphs>73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Aptos</vt:lpstr>
      <vt:lpstr>Arial</vt:lpstr>
      <vt:lpstr>Calibri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a81675</cp:lastModifiedBy>
  <cp:revision>4</cp:revision>
  <dcterms:created xsi:type="dcterms:W3CDTF">2013-01-27T09:14:16Z</dcterms:created>
  <dcterms:modified xsi:type="dcterms:W3CDTF">2026-05-22T10:53:36Z</dcterms:modified>
  <cp:category/>
</cp:coreProperties>
</file>