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review.net/forum?id=rhgIgTSSxW" TargetMode="External"/><Relationship Id="rId3" Type="http://schemas.openxmlformats.org/officeDocument/2006/relationships/hyperlink" Target="file:///C:/Users/Administrator/Desktop/SecondOpinion/reports/mvp_demo_three_papers.html" TargetMode="External"/><Relationship Id="rId4" Type="http://schemas.openxmlformats.org/officeDocument/2006/relationships/hyperlink" Target="https://github.com/Yongwen12/SecondOpin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3200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ptos"/>
              </a:rPr>
              <a:t>SecondOpinion: One Review, End-to-End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93776"/>
            <a:ext cx="11430000" cy="18288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5B6670"/>
                </a:solidFill>
                <a:latin typeface="Aptos"/>
              </a:rPr>
              <a:t>A concrete ICLR example showing why the system exists, how it works, and what it currently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804672"/>
            <a:ext cx="3703320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60520" y="804672"/>
            <a:ext cx="4069080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30768" y="804672"/>
            <a:ext cx="3502152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932688"/>
            <a:ext cx="3429000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1. Motivating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179576"/>
            <a:ext cx="3383280" cy="16459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720" b="1" i="0">
                <a:solidFill>
                  <a:srgbClr val="111827"/>
                </a:solidFill>
                <a:latin typeface="Aptos"/>
              </a:rPr>
              <a:t>Paper: TabR: Tabular Deep Learning Meets Nearest Neighbors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344168"/>
            <a:ext cx="3108960" cy="10972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40" b="0" i="0">
                <a:solidFill>
                  <a:srgbClr val="0369A1"/>
                </a:solidFill>
                <a:latin typeface="Aptos"/>
                <a:hlinkClick r:id="rId2"/>
              </a:rPr>
              <a:t>openreview.net/forum?id=rhgIgTSSxW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517904"/>
            <a:ext cx="3383280" cy="13716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50" b="0" i="0">
                <a:solidFill>
                  <a:srgbClr val="5B6670"/>
                </a:solidFill>
                <a:latin typeface="Aptos"/>
              </a:rPr>
              <a:t>Review CEBB2izG6I | rating: 6, marginally above acceptance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1783080"/>
            <a:ext cx="3419856" cy="1143000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0F766E"/>
                </a:solidFill>
                <a:latin typeface="Aptos"/>
              </a:rPr>
              <a:t>Reviewer wording</a:t>
            </a:r>
          </a:p>
          <a:p>
            <a:pPr>
              <a:spcAft>
                <a:spcPts val="80"/>
              </a:spcAft>
            </a:pPr>
            <a:r>
              <a:rPr sz="720" b="0" i="1">
                <a:solidFill>
                  <a:srgbClr val="111827"/>
                </a:solidFill>
                <a:latin typeface="Aptos"/>
              </a:rPr>
              <a:t>"Some aspects are not clear, see the questions section."</a:t>
            </a:r>
          </a:p>
          <a:p>
            <a:pPr>
              <a:spcAft>
                <a:spcPts val="80"/>
              </a:spcAft>
            </a:pPr>
            <a:r>
              <a:rPr sz="720" b="0" i="1">
                <a:solidFill>
                  <a:srgbClr val="111827"/>
                </a:solidFill>
                <a:latin typeface="Aptos"/>
              </a:rPr>
              <a:t>"What's the reason for choosing m to be 96? How does m affect the performance of TabR?"</a:t>
            </a:r>
          </a:p>
          <a:p>
            <a:pPr>
              <a:spcAft>
                <a:spcPts val="80"/>
              </a:spcAft>
            </a:pPr>
            <a:r>
              <a:rPr sz="720" b="0" i="1">
                <a:solidFill>
                  <a:srgbClr val="111827"/>
                </a:solidFill>
                <a:latin typeface="Aptos"/>
              </a:rPr>
              <a:t>"What's the inference efficiency of TabR and how does it compare with other baselines?"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3108960"/>
            <a:ext cx="3419856" cy="987552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45309"/>
                </a:solidFill>
                <a:latin typeface="Aptos"/>
              </a:rPr>
              <a:t>Why this is useful as a test case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The review mixes one vague umbrella criticism with several concrete, auditable questions.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That makes it ideal for testing extraction quality, evidence retrieval, and rebuttal usefulness.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4279392"/>
            <a:ext cx="3419856" cy="109728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91C1C"/>
                </a:solidFill>
                <a:latin typeface="Aptos"/>
              </a:rPr>
              <a:t>Hypothesis signal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Raw reviewer scores are not enough: a review can be directionally useful but still uneven in specificity and actionability.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SecondOpinion tries to audit each reviewer point against manuscript/rebuttal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932688"/>
            <a:ext cx="3767328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2. Actual audit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261872"/>
            <a:ext cx="3803904" cy="557784"/>
          </a:xfrm>
          <a:prstGeom prst="roundRect">
            <a:avLst/>
          </a:prstGeom>
          <a:solidFill>
            <a:srgbClr val="F9FAFB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111827"/>
                </a:solidFill>
                <a:latin typeface="Aptos"/>
              </a:rPr>
              <a:t>Input review field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questions: m=96 choice, inference efficiency, categorical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1874519"/>
            <a:ext cx="22860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7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892807"/>
            <a:ext cx="2057400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>
              <a:spcAft>
                <a:spcPts val="0"/>
              </a:spcAft>
            </a:pPr>
            <a:r>
              <a:rPr sz="590" b="1" i="0">
                <a:solidFill>
                  <a:srgbClr val="047857"/>
                </a:solidFill>
                <a:latin typeface="Aptos"/>
              </a:rPr>
              <a:t>Claim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121408"/>
            <a:ext cx="3803904" cy="676656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047857"/>
                </a:solidFill>
                <a:latin typeface="Aptos"/>
              </a:rPr>
              <a:t>Extracted claim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claim_text: Why choose m=96? How does m affect TabR performance?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claim_type: experiment | importance: major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852928"/>
            <a:ext cx="22860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7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871216"/>
            <a:ext cx="2057400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>
              <a:spcAft>
                <a:spcPts val="0"/>
              </a:spcAft>
            </a:pPr>
            <a:r>
              <a:rPr sz="590" b="1" i="0">
                <a:solidFill>
                  <a:srgbClr val="0369A1"/>
                </a:solidFill>
                <a:latin typeface="Aptos"/>
              </a:rPr>
              <a:t>Chunk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099816"/>
            <a:ext cx="3803904" cy="749808"/>
          </a:xfrm>
          <a:prstGeom prst="roundRect">
            <a:avLst/>
          </a:prstGeom>
          <a:solidFill>
            <a:srgbClr val="F0F9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0369A1"/>
                </a:solidFill>
                <a:latin typeface="Aptos"/>
              </a:rPr>
              <a:t>Retrieved evidence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Author response: addressed in Section A.6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Evidence store also cites extended results, Section E, p.30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3904487"/>
            <a:ext cx="22860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7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3922775"/>
            <a:ext cx="2057400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>
              <a:spcAft>
                <a:spcPts val="0"/>
              </a:spcAft>
            </a:pPr>
            <a:r>
              <a:rPr sz="590" b="1" i="0">
                <a:solidFill>
                  <a:srgbClr val="B45309"/>
                </a:solidFill>
                <a:latin typeface="Aptos"/>
              </a:rPr>
              <a:t>LLM judge + reliability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4151376"/>
            <a:ext cx="3803904" cy="859536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45309"/>
                </a:solidFill>
                <a:latin typeface="Aptos"/>
              </a:rPr>
              <a:t>Judgement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stance: strongly_agree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verdict: supported | confidence: medium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support_score: 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5074920"/>
            <a:ext cx="22860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7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5093207"/>
            <a:ext cx="2057400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>
              <a:spcAft>
                <a:spcPts val="0"/>
              </a:spcAft>
            </a:pPr>
            <a:r>
              <a:rPr sz="590" b="1" i="0">
                <a:solidFill>
                  <a:srgbClr val="B91C1C"/>
                </a:solidFill>
                <a:latin typeface="Aptos"/>
              </a:rPr>
              <a:t>Report writer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5321808"/>
            <a:ext cx="3803904" cy="658368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91C1C"/>
                </a:solidFill>
                <a:latin typeface="Aptos"/>
              </a:rPr>
              <a:t>Author-facing guidance</a:t>
            </a:r>
          </a:p>
          <a:p>
            <a:pPr>
              <a:spcAft>
                <a:spcPts val="6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Add a concise m-ablation summary/table with quantitative trends across datasets and seeds.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932688"/>
            <a:ext cx="3127248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3. Current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1170432"/>
            <a:ext cx="3108960" cy="18288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80" b="0" i="0">
                <a:solidFill>
                  <a:srgbClr val="5B6670"/>
                </a:solidFill>
                <a:latin typeface="Aptos"/>
              </a:rPr>
              <a:t>Demo run: 3 ICLR papers / 12 official reviews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7072" y="1444752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91C1C"/>
                </a:solidFill>
                <a:latin typeface="Aptos"/>
              </a:rPr>
              <a:t>54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B6670"/>
                </a:solidFill>
                <a:latin typeface="Aptos"/>
              </a:rPr>
              <a:t>RQS for this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1444752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Aptos"/>
              </a:rPr>
              <a:t>57.8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B6670"/>
                </a:solidFill>
                <a:latin typeface="Aptos"/>
              </a:rPr>
              <a:t>avg RQS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16768" y="1444752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369A1"/>
                </a:solidFill>
                <a:latin typeface="Aptos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B6670"/>
                </a:solidFill>
                <a:latin typeface="Aptos"/>
              </a:rPr>
              <a:t>reviews audited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7072" y="2331720"/>
            <a:ext cx="3127248" cy="960120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0F766E"/>
                </a:solidFill>
                <a:latin typeface="Aptos"/>
              </a:rPr>
              <a:t>Claim-level output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m=96 question: strongly_agree / supported / medium confidence</a:t>
            </a:r>
          </a:p>
          <a:p>
            <a:pPr>
              <a:spcAft>
                <a:spcPts val="120"/>
              </a:spcAft>
            </a:pPr>
            <a:r>
              <a:rPr sz="700" b="0" i="0">
                <a:solidFill>
                  <a:srgbClr val="111827"/>
                </a:solidFill>
                <a:latin typeface="Aptos"/>
              </a:rPr>
              <a:t>Categorical-features question: strongly_agree / supported / medium confidence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7072" y="3493008"/>
            <a:ext cx="3127248" cy="941832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45309"/>
                </a:solidFill>
                <a:latin typeface="Aptos"/>
              </a:rPr>
              <a:t>Review-level flags</a:t>
            </a:r>
          </a:p>
          <a:p>
            <a:pPr>
              <a:spcAft>
                <a:spcPts val="40"/>
              </a:spcAft>
            </a:pPr>
            <a:r>
              <a:rPr sz="680" b="0" i="0">
                <a:solidFill>
                  <a:srgbClr val="111827"/>
                </a:solidFill>
                <a:latin typeface="Aptos"/>
              </a:rPr>
              <a:t>vague-criticism</a:t>
            </a:r>
          </a:p>
          <a:p>
            <a:pPr>
              <a:spcAft>
                <a:spcPts val="40"/>
              </a:spcAft>
            </a:pPr>
            <a:r>
              <a:rPr sz="680" b="0" i="0">
                <a:solidFill>
                  <a:srgbClr val="111827"/>
                </a:solidFill>
                <a:latin typeface="Aptos"/>
              </a:rPr>
              <a:t>missing-actionable-suggestions</a:t>
            </a:r>
          </a:p>
          <a:p>
            <a:pPr>
              <a:spcAft>
                <a:spcPts val="40"/>
              </a:spcAft>
            </a:pPr>
            <a:r>
              <a:rPr sz="680" b="0" i="0">
                <a:solidFill>
                  <a:srgbClr val="111827"/>
                </a:solidFill>
                <a:latin typeface="Aptos"/>
              </a:rPr>
              <a:t>confidence downgraded when evidence is limited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7072" y="4636008"/>
            <a:ext cx="3127248" cy="77724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60" b="1" i="0">
                <a:solidFill>
                  <a:srgbClr val="B91C1C"/>
                </a:solidFill>
                <a:latin typeface="Aptos"/>
              </a:rPr>
              <a:t>Next calibration</a:t>
            </a:r>
          </a:p>
          <a:p>
            <a:pPr>
              <a:spcAft>
                <a:spcPts val="120"/>
              </a:spcAft>
            </a:pPr>
            <a:r>
              <a:rPr sz="680" b="0" i="0">
                <a:solidFill>
                  <a:srgbClr val="111827"/>
                </a:solidFill>
                <a:latin typeface="Aptos"/>
              </a:rPr>
              <a:t>Human and AI label the same claims, evidence relevance, verdict correctness, and RQS reasonableness.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5632704"/>
            <a:ext cx="3127248" cy="6766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4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Links</a:t>
            </a:r>
          </a:p>
          <a:p>
            <a:pPr>
              <a:spcAft>
                <a:spcPts val="30"/>
              </a:spcAft>
            </a:pPr>
            <a:r>
              <a:rPr sz="570" b="0" i="0">
                <a:solidFill>
                  <a:srgbClr val="D1D5DB"/>
                </a:solidFill>
                <a:latin typeface="Aptos"/>
                <a:hlinkClick r:id="rId3"/>
              </a:rPr>
              <a:t>Demo report: reports/mvp_demo_three_papers.html</a:t>
            </a:r>
          </a:p>
          <a:p>
            <a:pPr>
              <a:spcAft>
                <a:spcPts val="0"/>
              </a:spcAft>
            </a:pPr>
            <a:r>
              <a:rPr sz="570" b="0" i="0">
                <a:solidFill>
                  <a:srgbClr val="D1D5DB"/>
                </a:solidFill>
                <a:latin typeface="Aptos"/>
                <a:hlinkClick r:id="rId4"/>
              </a:rPr>
              <a:t>Repo: github.com/Yongwen12/SecondOpinion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556248"/>
            <a:ext cx="11338560" cy="12801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50" b="0" i="0">
                <a:solidFill>
                  <a:srgbClr val="5B6670"/>
                </a:solidFill>
                <a:latin typeface="Aptos"/>
              </a:rPr>
              <a:t>RQS = Review Quality Score. This is a preliminary MVP audit output for calibration, not final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