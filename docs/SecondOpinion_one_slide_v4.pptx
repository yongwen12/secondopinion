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penreview.net/forum?id=cXs5md5wAq" TargetMode="External"/><Relationship Id="rId3" Type="http://schemas.openxmlformats.org/officeDocument/2006/relationships/hyperlink" Target="https://openreview.net/forum?id=eR4W9tnJoZ" TargetMode="External"/><Relationship Id="rId4" Type="http://schemas.openxmlformats.org/officeDocument/2006/relationships/hyperlink" Target="https://openreview.net/forum?id=xNdE7RiRyP" TargetMode="External"/><Relationship Id="rId5" Type="http://schemas.openxmlformats.org/officeDocument/2006/relationships/image" Target="../media/image1.png"/><Relationship Id="rId6" Type="http://schemas.openxmlformats.org/officeDocument/2006/relationships/hyperlink" Target="file:///C:/Users/Administrator/Desktop/SecondOpinion/reports/mvp_demo_three_papers.html" TargetMode="External"/><Relationship Id="rId7" Type="http://schemas.openxmlformats.org/officeDocument/2006/relationships/hyperlink" Target="https://github.com/Yongwen12/SecondOpinion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18872"/>
            <a:ext cx="11521440" cy="310896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2100" b="1" i="0">
                <a:solidFill>
                  <a:srgbClr val="111827"/>
                </a:solidFill>
                <a:latin typeface="Aptos"/>
              </a:rPr>
              <a:t>SecondOpinion: From Review Signals to Evidence-Grounded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457200"/>
            <a:ext cx="11430000" cy="182880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5B6670"/>
                </a:solidFill>
                <a:latin typeface="Aptos"/>
              </a:rPr>
              <a:t>One-slide update: pilot motivation, actual data cleaning flow, and a concrete scoring result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" y="768096"/>
            <a:ext cx="3703320" cy="570585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60520" y="768096"/>
            <a:ext cx="3886200" cy="570585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47888" y="768096"/>
            <a:ext cx="3685032" cy="570585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896112"/>
            <a:ext cx="3401568" cy="201168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0F766E"/>
                </a:solidFill>
                <a:latin typeface="Aptos"/>
              </a:rPr>
              <a:t>1. Pilot review-quality 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115568"/>
            <a:ext cx="3383280" cy="146304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630" b="0" i="0">
                <a:solidFill>
                  <a:srgbClr val="5B6670"/>
                </a:solidFill>
                <a:latin typeface="Aptos"/>
              </a:rPr>
              <a:t>Examples from public ICLR 2024 OpenReview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" y="1353312"/>
            <a:ext cx="3419856" cy="1152144"/>
          </a:xfrm>
          <a:prstGeom prst="roundRect">
            <a:avLst/>
          </a:prstGeom>
          <a:solidFill>
            <a:srgbClr val="F0FDFA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70"/>
              </a:spcAft>
            </a:pPr>
            <a:r>
              <a:rPr sz="750" b="1" i="0">
                <a:solidFill>
                  <a:srgbClr val="0F766E"/>
                </a:solidFill>
                <a:latin typeface="Aptos"/>
              </a:rPr>
              <a:t>Reviewer conflict</a:t>
            </a:r>
          </a:p>
          <a:p>
            <a:pPr>
              <a:spcAft>
                <a:spcPts val="40"/>
              </a:spcAft>
            </a:pPr>
            <a:r>
              <a:rPr sz="640" b="1" i="0">
                <a:solidFill>
                  <a:srgbClr val="111827"/>
                </a:solidFill>
                <a:latin typeface="Aptos"/>
              </a:rPr>
              <a:t>Modelling Microbial Communities with GNNs</a:t>
            </a:r>
          </a:p>
          <a:p>
            <a:pPr>
              <a:spcAft>
                <a:spcPts val="50"/>
              </a:spcAft>
            </a:pPr>
            <a:r>
              <a:rPr sz="590" b="0" i="1">
                <a:solidFill>
                  <a:srgbClr val="111827"/>
                </a:solidFill>
                <a:latin typeface="Aptos"/>
              </a:rPr>
              <a:t>"poorly justified and weak on novelty"</a:t>
            </a:r>
          </a:p>
          <a:p>
            <a:pPr>
              <a:spcAft>
                <a:spcPts val="50"/>
              </a:spcAft>
            </a:pPr>
            <a:r>
              <a:rPr sz="590" b="0" i="1">
                <a:solidFill>
                  <a:srgbClr val="111827"/>
                </a:solidFill>
                <a:latin typeface="Aptos"/>
              </a:rPr>
              <a:t>"Novel problem setup and the first use of GNN"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331720"/>
            <a:ext cx="3063240" cy="91440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480" b="0" i="0">
                <a:solidFill>
                  <a:srgbClr val="0369A1"/>
                </a:solidFill>
                <a:latin typeface="Aptos"/>
                <a:hlinkClick r:id="rId2"/>
              </a:rPr>
              <a:t>openreview.net/forum?id=cXs5md5wAq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" y="2697480"/>
            <a:ext cx="3419856" cy="1152144"/>
          </a:xfrm>
          <a:prstGeom prst="roundRect">
            <a:avLst/>
          </a:prstGeom>
          <a:solidFill>
            <a:srgbClr val="FFF7ED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70"/>
              </a:spcAft>
            </a:pPr>
            <a:r>
              <a:rPr sz="750" b="1" i="0">
                <a:solidFill>
                  <a:srgbClr val="B45309"/>
                </a:solidFill>
                <a:latin typeface="Aptos"/>
              </a:rPr>
              <a:t>Vague / low-actionability</a:t>
            </a:r>
          </a:p>
          <a:p>
            <a:pPr>
              <a:spcAft>
                <a:spcPts val="40"/>
              </a:spcAft>
            </a:pPr>
            <a:r>
              <a:rPr sz="640" b="1" i="0">
                <a:solidFill>
                  <a:srgbClr val="111827"/>
                </a:solidFill>
                <a:latin typeface="Aptos"/>
              </a:rPr>
              <a:t>Visuo-emotional perception and GenAI</a:t>
            </a:r>
          </a:p>
          <a:p>
            <a:pPr>
              <a:spcAft>
                <a:spcPts val="50"/>
              </a:spcAft>
            </a:pPr>
            <a:r>
              <a:rPr sz="590" b="0" i="1">
                <a:solidFill>
                  <a:srgbClr val="111827"/>
                </a:solidFill>
                <a:latin typeface="Aptos"/>
              </a:rPr>
              <a:t>"The presentation of the paper is chaotic"</a:t>
            </a:r>
          </a:p>
          <a:p>
            <a:pPr>
              <a:spcAft>
                <a:spcPts val="50"/>
              </a:spcAft>
            </a:pPr>
            <a:r>
              <a:rPr sz="590" b="0" i="1">
                <a:solidFill>
                  <a:srgbClr val="111827"/>
                </a:solidFill>
                <a:latin typeface="Aptos"/>
              </a:rPr>
              <a:t>"Please refer to Weaknesses"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675887"/>
            <a:ext cx="3063240" cy="91440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480" b="0" i="0">
                <a:solidFill>
                  <a:srgbClr val="0369A1"/>
                </a:solidFill>
                <a:latin typeface="Aptos"/>
                <a:hlinkClick r:id="rId3"/>
              </a:rPr>
              <a:t>openreview.net/forum?id=eR4W9tnJoZ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" y="4041648"/>
            <a:ext cx="3419856" cy="1152144"/>
          </a:xfrm>
          <a:prstGeom prst="roundRect">
            <a:avLst/>
          </a:prstGeom>
          <a:solidFill>
            <a:srgbClr val="FEF2F2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70"/>
              </a:spcAft>
            </a:pPr>
            <a:r>
              <a:rPr sz="750" b="1" i="0">
                <a:solidFill>
                  <a:srgbClr val="B91C1C"/>
                </a:solidFill>
                <a:latin typeface="Aptos"/>
              </a:rPr>
              <a:t>Tone risk</a:t>
            </a:r>
          </a:p>
          <a:p>
            <a:pPr>
              <a:spcAft>
                <a:spcPts val="40"/>
              </a:spcAft>
            </a:pPr>
            <a:r>
              <a:rPr sz="640" b="1" i="0">
                <a:solidFill>
                  <a:srgbClr val="111827"/>
                </a:solidFill>
                <a:latin typeface="Aptos"/>
              </a:rPr>
              <a:t>TinyTrain</a:t>
            </a:r>
          </a:p>
          <a:p>
            <a:pPr>
              <a:spcAft>
                <a:spcPts val="50"/>
              </a:spcAft>
            </a:pPr>
            <a:r>
              <a:rPr sz="590" b="0" i="1">
                <a:solidFill>
                  <a:srgbClr val="111827"/>
                </a:solidFill>
                <a:latin typeface="Aptos"/>
              </a:rPr>
              <a:t>"I have no idea..."</a:t>
            </a:r>
          </a:p>
          <a:p>
            <a:pPr>
              <a:spcAft>
                <a:spcPts val="50"/>
              </a:spcAft>
            </a:pPr>
            <a:r>
              <a:rPr sz="590" b="0" i="1">
                <a:solidFill>
                  <a:srgbClr val="111827"/>
                </a:solidFill>
                <a:latin typeface="Aptos"/>
              </a:rPr>
              <a:t>"why bother writing down..."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5020056"/>
            <a:ext cx="3063240" cy="91440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480" b="0" i="0">
                <a:solidFill>
                  <a:srgbClr val="0369A1"/>
                </a:solidFill>
                <a:latin typeface="Aptos"/>
                <a:hlinkClick r:id="rId4"/>
              </a:rPr>
              <a:t>openreview.net/forum?id=xNdE7RiRyP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5413248"/>
            <a:ext cx="3383280" cy="658368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600" b="0" i="0">
                <a:solidFill>
                  <a:srgbClr val="5B6670"/>
                </a:solidFill>
                <a:latin typeface="Aptos"/>
              </a:rPr>
              <a:t>Takeaway: the motivation is not only that some reviews are negative. The issue is whether feedback is specific, evidence-grounded, actionable, and professionally phrased.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896112"/>
            <a:ext cx="3621024" cy="201168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0F766E"/>
                </a:solidFill>
                <a:latin typeface="Aptos"/>
              </a:rPr>
              <a:t>2. Actual cleaning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115568"/>
            <a:ext cx="3621024" cy="146304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630" b="0" i="0">
                <a:solidFill>
                  <a:srgbClr val="5B6670"/>
                </a:solidFill>
                <a:latin typeface="Aptos"/>
              </a:rPr>
              <a:t>Example trace: TabR review CEBB2izG6I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325880"/>
            <a:ext cx="3621024" cy="475488"/>
          </a:xfrm>
          <a:prstGeom prst="roundRect">
            <a:avLst/>
          </a:prstGeom>
          <a:solidFill>
            <a:srgbClr val="F9FAFB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70"/>
              </a:spcAft>
            </a:pPr>
            <a:r>
              <a:rPr sz="750" b="1" i="0">
                <a:solidFill>
                  <a:srgbClr val="111827"/>
                </a:solidFill>
                <a:latin typeface="Aptos"/>
              </a:rPr>
              <a:t>Raw reviewer comments</a:t>
            </a:r>
          </a:p>
          <a:p>
            <a:pPr>
              <a:spcAft>
                <a:spcPts val="40"/>
              </a:spcAft>
            </a:pPr>
            <a:r>
              <a:rPr sz="570" b="0" i="0">
                <a:solidFill>
                  <a:srgbClr val="111827"/>
                </a:solidFill>
                <a:latin typeface="Aptos"/>
              </a:rPr>
              <a:t>Weakness: unclear aspects</a:t>
            </a:r>
          </a:p>
          <a:p>
            <a:pPr>
              <a:spcAft>
                <a:spcPts val="40"/>
              </a:spcAft>
            </a:pPr>
            <a:r>
              <a:rPr sz="570" b="0" i="0">
                <a:solidFill>
                  <a:srgbClr val="111827"/>
                </a:solidFill>
                <a:latin typeface="Aptos"/>
              </a:rPr>
              <a:t>Questions: m=96, inference efficiency, categorical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1032" y="1847088"/>
            <a:ext cx="228600" cy="91440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ctr"/>
            <a:r>
              <a:rPr sz="680" b="1" i="0">
                <a:solidFill>
                  <a:srgbClr val="5B6670"/>
                </a:solidFill>
                <a:latin typeface="Aptos"/>
              </a:rPr>
              <a:t>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1856231"/>
            <a:ext cx="1920240" cy="1371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" rIns="18288" tIns="0" bIns="0"/>
          <a:lstStyle/>
          <a:p>
            <a:pPr algn="ctr">
              <a:spcAft>
                <a:spcPts val="0"/>
              </a:spcAft>
            </a:pPr>
            <a:r>
              <a:rPr sz="500" b="1" i="0">
                <a:solidFill>
                  <a:srgbClr val="0F766E"/>
                </a:solidFill>
                <a:latin typeface="Aptos"/>
              </a:rPr>
              <a:t>normalize fields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2048256"/>
            <a:ext cx="3621024" cy="530352"/>
          </a:xfrm>
          <a:prstGeom prst="roundRect">
            <a:avLst/>
          </a:prstGeom>
          <a:solidFill>
            <a:srgbClr val="F0FDFA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70"/>
              </a:spcAft>
            </a:pPr>
            <a:r>
              <a:rPr sz="750" b="1" i="0">
                <a:solidFill>
                  <a:srgbClr val="0F766E"/>
                </a:solidFill>
                <a:latin typeface="Aptos"/>
              </a:rPr>
              <a:t>Cleaned review chunks</a:t>
            </a:r>
          </a:p>
          <a:p>
            <a:pPr>
              <a:spcAft>
                <a:spcPts val="40"/>
              </a:spcAft>
            </a:pPr>
            <a:r>
              <a:rPr sz="570" b="0" i="0">
                <a:solidFill>
                  <a:srgbClr val="111827"/>
                </a:solidFill>
                <a:latin typeface="Aptos"/>
              </a:rPr>
              <a:t>source_field: weaknesses / questions</a:t>
            </a:r>
          </a:p>
          <a:p>
            <a:pPr>
              <a:spcAft>
                <a:spcPts val="40"/>
              </a:spcAft>
            </a:pPr>
            <a:r>
              <a:rPr sz="570" b="0" i="0">
                <a:solidFill>
                  <a:srgbClr val="111827"/>
                </a:solidFill>
                <a:latin typeface="Aptos"/>
              </a:rPr>
              <a:t>rating normalized: 6/10</a:t>
            </a:r>
          </a:p>
          <a:p>
            <a:pPr>
              <a:spcAft>
                <a:spcPts val="40"/>
              </a:spcAft>
            </a:pPr>
            <a:r>
              <a:rPr sz="570" b="0" i="0">
                <a:solidFill>
                  <a:srgbClr val="111827"/>
                </a:solidFill>
                <a:latin typeface="Aptos"/>
              </a:rPr>
              <a:t>source_sentence preserved exactly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2" y="2624328"/>
            <a:ext cx="228600" cy="91440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ctr"/>
            <a:r>
              <a:rPr sz="680" b="1" i="0">
                <a:solidFill>
                  <a:srgbClr val="5B6670"/>
                </a:solidFill>
                <a:latin typeface="Aptos"/>
              </a:rPr>
              <a:t>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0" y="2633472"/>
            <a:ext cx="1920240" cy="1371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" rIns="18288" tIns="0" bIns="0"/>
          <a:lstStyle/>
          <a:p>
            <a:pPr algn="ctr">
              <a:spcAft>
                <a:spcPts val="0"/>
              </a:spcAft>
            </a:pPr>
            <a:r>
              <a:rPr sz="500" b="1" i="0">
                <a:solidFill>
                  <a:srgbClr val="047857"/>
                </a:solidFill>
                <a:latin typeface="Aptos"/>
              </a:rPr>
              <a:t>extract claims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2825496"/>
            <a:ext cx="3621024" cy="603504"/>
          </a:xfrm>
          <a:prstGeom prst="roundRect">
            <a:avLst/>
          </a:prstGeom>
          <a:solidFill>
            <a:srgbClr val="ECFDF5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70"/>
              </a:spcAft>
            </a:pPr>
            <a:r>
              <a:rPr sz="750" b="1" i="0">
                <a:solidFill>
                  <a:srgbClr val="047857"/>
                </a:solidFill>
                <a:latin typeface="Aptos"/>
              </a:rPr>
              <a:t>Extracted claims</a:t>
            </a:r>
          </a:p>
          <a:p>
            <a:pPr>
              <a:spcAft>
                <a:spcPts val="40"/>
              </a:spcAft>
            </a:pPr>
            <a:r>
              <a:rPr sz="570" b="0" i="0">
                <a:solidFill>
                  <a:srgbClr val="111827"/>
                </a:solidFill>
                <a:latin typeface="Aptos"/>
              </a:rPr>
              <a:t>1. Some aspects are not clear</a:t>
            </a:r>
          </a:p>
          <a:p>
            <a:pPr>
              <a:spcAft>
                <a:spcPts val="40"/>
              </a:spcAft>
            </a:pPr>
            <a:r>
              <a:rPr sz="570" b="0" i="0">
                <a:solidFill>
                  <a:srgbClr val="111827"/>
                </a:solidFill>
                <a:latin typeface="Aptos"/>
              </a:rPr>
              <a:t>2. Why choose m=96?</a:t>
            </a:r>
          </a:p>
          <a:p>
            <a:pPr>
              <a:spcAft>
                <a:spcPts val="40"/>
              </a:spcAft>
            </a:pPr>
            <a:r>
              <a:rPr sz="570" b="0" i="0">
                <a:solidFill>
                  <a:srgbClr val="111827"/>
                </a:solidFill>
                <a:latin typeface="Aptos"/>
              </a:rPr>
              <a:t>3. Inference efficiency vs GBDT</a:t>
            </a:r>
          </a:p>
          <a:p>
            <a:pPr>
              <a:spcAft>
                <a:spcPts val="40"/>
              </a:spcAft>
            </a:pPr>
            <a:r>
              <a:rPr sz="570" b="0" i="0">
                <a:solidFill>
                  <a:srgbClr val="111827"/>
                </a:solidFill>
                <a:latin typeface="Aptos"/>
              </a:rPr>
              <a:t>4. Categorical feature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71032" y="3493008"/>
            <a:ext cx="228600" cy="91440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ctr"/>
            <a:r>
              <a:rPr sz="680" b="1" i="0">
                <a:solidFill>
                  <a:srgbClr val="5B6670"/>
                </a:solidFill>
                <a:latin typeface="Aptos"/>
              </a:rPr>
              <a:t>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3502151"/>
            <a:ext cx="1920240" cy="1371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" rIns="18288" tIns="0" bIns="0"/>
          <a:lstStyle/>
          <a:p>
            <a:pPr algn="ctr">
              <a:spcAft>
                <a:spcPts val="0"/>
              </a:spcAft>
            </a:pPr>
            <a:r>
              <a:rPr sz="500" b="1" i="0">
                <a:solidFill>
                  <a:srgbClr val="0369A1"/>
                </a:solidFill>
                <a:latin typeface="Aptos"/>
              </a:rPr>
              <a:t>retrieve evidence chunks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3694176"/>
            <a:ext cx="3621024" cy="566928"/>
          </a:xfrm>
          <a:prstGeom prst="roundRect">
            <a:avLst/>
          </a:prstGeom>
          <a:solidFill>
            <a:srgbClr val="F0F9FF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70"/>
              </a:spcAft>
            </a:pPr>
            <a:r>
              <a:rPr sz="750" b="1" i="0">
                <a:solidFill>
                  <a:srgbClr val="0369A1"/>
                </a:solidFill>
                <a:latin typeface="Aptos"/>
              </a:rPr>
              <a:t>Matched evidence</a:t>
            </a:r>
          </a:p>
          <a:p>
            <a:pPr>
              <a:spcAft>
                <a:spcPts val="40"/>
              </a:spcAft>
            </a:pPr>
            <a:r>
              <a:rPr sz="570" b="0" i="0">
                <a:solidFill>
                  <a:srgbClr val="111827"/>
                </a:solidFill>
                <a:latin typeface="Aptos"/>
              </a:rPr>
              <a:t>Author response: addressed in Section A.6</a:t>
            </a:r>
          </a:p>
          <a:p>
            <a:pPr>
              <a:spcAft>
                <a:spcPts val="40"/>
              </a:spcAft>
            </a:pPr>
            <a:r>
              <a:rPr sz="570" b="0" i="0">
                <a:solidFill>
                  <a:srgbClr val="111827"/>
                </a:solidFill>
                <a:latin typeface="Aptos"/>
              </a:rPr>
              <a:t>Extended results: Section E, p.30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71032" y="4507992"/>
            <a:ext cx="228600" cy="91440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ctr"/>
            <a:r>
              <a:rPr sz="680" b="1" i="0">
                <a:solidFill>
                  <a:srgbClr val="5B6670"/>
                </a:solidFill>
                <a:latin typeface="Aptos"/>
              </a:rPr>
              <a:t>v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20640" y="4517136"/>
            <a:ext cx="1920240" cy="1371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" rIns="18288" tIns="0" bIns="0"/>
          <a:lstStyle/>
          <a:p>
            <a:pPr algn="ctr">
              <a:spcAft>
                <a:spcPts val="0"/>
              </a:spcAft>
            </a:pPr>
            <a:r>
              <a:rPr sz="500" b="1" i="0">
                <a:solidFill>
                  <a:srgbClr val="B45309"/>
                </a:solidFill>
                <a:latin typeface="Aptos"/>
              </a:rPr>
              <a:t>judge + reliability gate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4709160"/>
            <a:ext cx="3621024" cy="685800"/>
          </a:xfrm>
          <a:prstGeom prst="roundRect">
            <a:avLst/>
          </a:prstGeom>
          <a:solidFill>
            <a:srgbClr val="FFF7ED"/>
          </a:solidFill>
          <a:ln w="889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70"/>
              </a:spcAft>
            </a:pPr>
            <a:r>
              <a:rPr sz="750" b="1" i="0">
                <a:solidFill>
                  <a:srgbClr val="B45309"/>
                </a:solidFill>
                <a:latin typeface="Aptos"/>
              </a:rPr>
              <a:t>Scored output</a:t>
            </a:r>
          </a:p>
          <a:p>
            <a:pPr>
              <a:spcAft>
                <a:spcPts val="40"/>
              </a:spcAft>
            </a:pPr>
            <a:r>
              <a:rPr sz="570" b="0" i="0">
                <a:solidFill>
                  <a:srgbClr val="111827"/>
                </a:solidFill>
                <a:latin typeface="Aptos"/>
              </a:rPr>
              <a:t>RQS: 54/100</a:t>
            </a:r>
          </a:p>
          <a:p>
            <a:pPr>
              <a:spcAft>
                <a:spcPts val="40"/>
              </a:spcAft>
            </a:pPr>
            <a:r>
              <a:rPr sz="570" b="0" i="0">
                <a:solidFill>
                  <a:srgbClr val="111827"/>
                </a:solidFill>
                <a:latin typeface="Aptos"/>
              </a:rPr>
              <a:t>m=96 claim: strongly_agree / supported</a:t>
            </a:r>
          </a:p>
          <a:p>
            <a:pPr>
              <a:spcAft>
                <a:spcPts val="40"/>
              </a:spcAft>
            </a:pPr>
            <a:r>
              <a:rPr sz="570" b="0" i="0">
                <a:solidFill>
                  <a:srgbClr val="111827"/>
                </a:solidFill>
                <a:latin typeface="Aptos"/>
              </a:rPr>
              <a:t>Guidance: add an m-ablation summary/table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896112"/>
            <a:ext cx="3383280" cy="201168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0F766E"/>
                </a:solidFill>
                <a:latin typeface="Aptos"/>
              </a:rPr>
              <a:t>3. Current scoring 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5048" y="1115568"/>
            <a:ext cx="3383280" cy="146304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630" b="0" i="0">
                <a:solidFill>
                  <a:srgbClr val="5B6670"/>
                </a:solidFill>
                <a:latin typeface="Aptos"/>
              </a:rPr>
              <a:t>Detailed snapshot for the same review</a:t>
            </a:r>
          </a:p>
        </p:txBody>
      </p:sp>
      <p:pic>
        <p:nvPicPr>
          <p:cNvPr id="33" name="Picture 32" descr="review_scoring_snapshot_CEBB2izG6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1353312"/>
            <a:ext cx="3383280" cy="3612655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8385048" y="5879592"/>
            <a:ext cx="3383280" cy="420624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4864" rIns="54864" tIns="36576" bIns="36576"/>
          <a:lstStyle/>
          <a:p>
            <a:pPr algn="ctr">
              <a:spcAft>
                <a:spcPts val="20"/>
              </a:spcAft>
            </a:pPr>
            <a:r>
              <a:rPr sz="650" b="1" i="0">
                <a:solidFill>
                  <a:srgbClr val="FFFFFF"/>
                </a:solidFill>
                <a:latin typeface="Aptos"/>
              </a:rPr>
              <a:t>Links</a:t>
            </a:r>
          </a:p>
          <a:p>
            <a:pPr>
              <a:spcAft>
                <a:spcPts val="10"/>
              </a:spcAft>
            </a:pPr>
            <a:r>
              <a:rPr sz="509" b="0" i="0">
                <a:solidFill>
                  <a:srgbClr val="D1D5DB"/>
                </a:solidFill>
                <a:latin typeface="Aptos"/>
                <a:hlinkClick r:id="rId6"/>
              </a:rPr>
              <a:t>Demo report: reports/mvp_demo_three_papers.html</a:t>
            </a:r>
          </a:p>
          <a:p>
            <a:pPr>
              <a:spcAft>
                <a:spcPts val="0"/>
              </a:spcAft>
            </a:pPr>
            <a:r>
              <a:rPr sz="509" b="0" i="0">
                <a:solidFill>
                  <a:srgbClr val="D1D5DB"/>
                </a:solidFill>
                <a:latin typeface="Aptos"/>
                <a:hlinkClick r:id="rId7"/>
              </a:rPr>
              <a:t>Repo: github.com/Yongwen12/SecondOpinion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6565392"/>
            <a:ext cx="11338560" cy="118872"/>
          </a:xfrm>
          <a:prstGeom prst="rect">
            <a:avLst/>
          </a:prstGeom>
          <a:noFill/>
        </p:spPr>
        <p:txBody>
          <a:bodyPr wrap="none" lIns="54864" rIns="54864" tIns="36576" bIns="36576" anchor="t">
            <a:spAutoFit/>
          </a:bodyPr>
          <a:lstStyle/>
          <a:p>
            <a:pPr algn="l"/>
            <a:r>
              <a:rPr sz="520" b="0" i="0">
                <a:solidFill>
                  <a:srgbClr val="5B6670"/>
                </a:solidFill>
                <a:latin typeface="Aptos"/>
              </a:rPr>
              <a:t>RQS = Review Quality Score. Current scores are preliminary MVP outputs for calibration, not final ground truth.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