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EDBA3-39D3-4A5C-B6BA-8D376ECF0889}" type="datetimeFigureOut">
              <a:rPr lang="zh-CN" altLang="en-US" smtClean="0"/>
              <a:t>2026/5/22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9B9B8-F149-47BC-ADBE-C9FEF90A53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229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9B9B8-F149-47BC-ADBE-C9FEF90A532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678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eview.net/forum?id=cXs5md5wAq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hyperlink" Target="https://openreview.net/forum?id=xNdE7RiRyP" TargetMode="External"/><Relationship Id="rId4" Type="http://schemas.openxmlformats.org/officeDocument/2006/relationships/hyperlink" Target="https://openreview.net/forum?id=eR4W9tnJo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91440"/>
            <a:ext cx="5645776" cy="44935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800" b="1" i="1" dirty="0" err="1">
                <a:solidFill>
                  <a:srgbClr val="111827"/>
                </a:solidFill>
                <a:latin typeface="Aptos"/>
              </a:rPr>
              <a:t>SecondOpinion</a:t>
            </a:r>
            <a:r>
              <a:rPr sz="2800" b="1" i="1" dirty="0">
                <a:solidFill>
                  <a:srgbClr val="111827"/>
                </a:solidFill>
                <a:latin typeface="Aptos"/>
              </a:rPr>
              <a:t>: Review Audit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484632"/>
            <a:ext cx="11338560" cy="20116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50" b="0" i="0">
                <a:solidFill>
                  <a:srgbClr val="5B6670"/>
                </a:solidFill>
                <a:latin typeface="Aptos"/>
              </a:rPr>
              <a:t>Pilot evidence → evidence-grounded audit architecture → current scoring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" y="749808"/>
            <a:ext cx="3913632" cy="5833872"/>
          </a:xfrm>
          <a:prstGeom prst="roundRect">
            <a:avLst>
              <a:gd name="adj" fmla="val 3972"/>
            </a:avLst>
          </a:prstGeom>
          <a:solidFill>
            <a:schemeClr val="bg1"/>
          </a:solidFill>
          <a:ln w="1905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4169663" y="749808"/>
            <a:ext cx="3968496" cy="5833872"/>
          </a:xfrm>
          <a:custGeom>
            <a:avLst/>
            <a:gdLst>
              <a:gd name="csX0" fmla="*/ 0 w 3968496"/>
              <a:gd name="csY0" fmla="*/ 195091 h 5833872"/>
              <a:gd name="csX1" fmla="*/ 195091 w 3968496"/>
              <a:gd name="csY1" fmla="*/ 0 h 5833872"/>
              <a:gd name="csX2" fmla="*/ 755694 w 3968496"/>
              <a:gd name="csY2" fmla="*/ 0 h 5833872"/>
              <a:gd name="csX3" fmla="*/ 1316296 w 3968496"/>
              <a:gd name="csY3" fmla="*/ 0 h 5833872"/>
              <a:gd name="csX4" fmla="*/ 1876899 w 3968496"/>
              <a:gd name="csY4" fmla="*/ 0 h 5833872"/>
              <a:gd name="csX5" fmla="*/ 2473284 w 3968496"/>
              <a:gd name="csY5" fmla="*/ 0 h 5833872"/>
              <a:gd name="csX6" fmla="*/ 3141236 w 3968496"/>
              <a:gd name="csY6" fmla="*/ 0 h 5833872"/>
              <a:gd name="csX7" fmla="*/ 3773405 w 3968496"/>
              <a:gd name="csY7" fmla="*/ 0 h 5833872"/>
              <a:gd name="csX8" fmla="*/ 3968496 w 3968496"/>
              <a:gd name="csY8" fmla="*/ 195091 h 5833872"/>
              <a:gd name="csX9" fmla="*/ 3968496 w 3968496"/>
              <a:gd name="csY9" fmla="*/ 766678 h 5833872"/>
              <a:gd name="csX10" fmla="*/ 3968496 w 3968496"/>
              <a:gd name="csY10" fmla="*/ 1556014 h 5833872"/>
              <a:gd name="csX11" fmla="*/ 3968496 w 3968496"/>
              <a:gd name="csY11" fmla="*/ 2236475 h 5833872"/>
              <a:gd name="csX12" fmla="*/ 3968496 w 3968496"/>
              <a:gd name="csY12" fmla="*/ 3025810 h 5833872"/>
              <a:gd name="csX13" fmla="*/ 3968496 w 3968496"/>
              <a:gd name="csY13" fmla="*/ 3815145 h 5833872"/>
              <a:gd name="csX14" fmla="*/ 3968496 w 3968496"/>
              <a:gd name="csY14" fmla="*/ 4386732 h 5833872"/>
              <a:gd name="csX15" fmla="*/ 3968496 w 3968496"/>
              <a:gd name="csY15" fmla="*/ 5638781 h 5833872"/>
              <a:gd name="csX16" fmla="*/ 3773405 w 3968496"/>
              <a:gd name="csY16" fmla="*/ 5833872 h 5833872"/>
              <a:gd name="csX17" fmla="*/ 3177019 w 3968496"/>
              <a:gd name="csY17" fmla="*/ 5833872 h 5833872"/>
              <a:gd name="csX18" fmla="*/ 2687983 w 3968496"/>
              <a:gd name="csY18" fmla="*/ 5833872 h 5833872"/>
              <a:gd name="csX19" fmla="*/ 2020031 w 3968496"/>
              <a:gd name="csY19" fmla="*/ 5833872 h 5833872"/>
              <a:gd name="csX20" fmla="*/ 1530995 w 3968496"/>
              <a:gd name="csY20" fmla="*/ 5833872 h 5833872"/>
              <a:gd name="csX21" fmla="*/ 898826 w 3968496"/>
              <a:gd name="csY21" fmla="*/ 5833872 h 5833872"/>
              <a:gd name="csX22" fmla="*/ 195091 w 3968496"/>
              <a:gd name="csY22" fmla="*/ 5833872 h 5833872"/>
              <a:gd name="csX23" fmla="*/ 0 w 3968496"/>
              <a:gd name="csY23" fmla="*/ 5638781 h 5833872"/>
              <a:gd name="csX24" fmla="*/ 0 w 3968496"/>
              <a:gd name="csY24" fmla="*/ 4903883 h 5833872"/>
              <a:gd name="csX25" fmla="*/ 0 w 3968496"/>
              <a:gd name="csY25" fmla="*/ 4332295 h 5833872"/>
              <a:gd name="csX26" fmla="*/ 0 w 3968496"/>
              <a:gd name="csY26" fmla="*/ 3597397 h 5833872"/>
              <a:gd name="csX27" fmla="*/ 0 w 3968496"/>
              <a:gd name="csY27" fmla="*/ 2971373 h 5833872"/>
              <a:gd name="csX28" fmla="*/ 0 w 3968496"/>
              <a:gd name="csY28" fmla="*/ 2290912 h 5833872"/>
              <a:gd name="csX29" fmla="*/ 0 w 3968496"/>
              <a:gd name="csY29" fmla="*/ 1556014 h 5833872"/>
              <a:gd name="csX30" fmla="*/ 0 w 3968496"/>
              <a:gd name="csY30" fmla="*/ 821115 h 5833872"/>
              <a:gd name="csX31" fmla="*/ 0 w 3968496"/>
              <a:gd name="csY31" fmla="*/ 195091 h 58338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3968496" h="5833872" fill="none" extrusionOk="0">
                <a:moveTo>
                  <a:pt x="0" y="195091"/>
                </a:moveTo>
                <a:cubicBezTo>
                  <a:pt x="-3795" y="65198"/>
                  <a:pt x="88121" y="4739"/>
                  <a:pt x="195091" y="0"/>
                </a:cubicBezTo>
                <a:cubicBezTo>
                  <a:pt x="413896" y="11062"/>
                  <a:pt x="582601" y="8499"/>
                  <a:pt x="755694" y="0"/>
                </a:cubicBezTo>
                <a:cubicBezTo>
                  <a:pt x="928787" y="-8499"/>
                  <a:pt x="1203908" y="20834"/>
                  <a:pt x="1316296" y="0"/>
                </a:cubicBezTo>
                <a:cubicBezTo>
                  <a:pt x="1428684" y="-20834"/>
                  <a:pt x="1659931" y="-26938"/>
                  <a:pt x="1876899" y="0"/>
                </a:cubicBezTo>
                <a:cubicBezTo>
                  <a:pt x="2093867" y="26938"/>
                  <a:pt x="2255843" y="6206"/>
                  <a:pt x="2473284" y="0"/>
                </a:cubicBezTo>
                <a:cubicBezTo>
                  <a:pt x="2690725" y="-6206"/>
                  <a:pt x="2969978" y="-32243"/>
                  <a:pt x="3141236" y="0"/>
                </a:cubicBezTo>
                <a:cubicBezTo>
                  <a:pt x="3312494" y="32243"/>
                  <a:pt x="3614373" y="24394"/>
                  <a:pt x="3773405" y="0"/>
                </a:cubicBezTo>
                <a:cubicBezTo>
                  <a:pt x="3903342" y="10549"/>
                  <a:pt x="3964124" y="95110"/>
                  <a:pt x="3968496" y="195091"/>
                </a:cubicBezTo>
                <a:cubicBezTo>
                  <a:pt x="3972286" y="344237"/>
                  <a:pt x="3982580" y="556637"/>
                  <a:pt x="3968496" y="766678"/>
                </a:cubicBezTo>
                <a:cubicBezTo>
                  <a:pt x="3954412" y="976719"/>
                  <a:pt x="4001759" y="1361239"/>
                  <a:pt x="3968496" y="1556014"/>
                </a:cubicBezTo>
                <a:cubicBezTo>
                  <a:pt x="3935233" y="1750789"/>
                  <a:pt x="3986086" y="1901259"/>
                  <a:pt x="3968496" y="2236475"/>
                </a:cubicBezTo>
                <a:cubicBezTo>
                  <a:pt x="3950906" y="2571691"/>
                  <a:pt x="3945216" y="2732283"/>
                  <a:pt x="3968496" y="3025810"/>
                </a:cubicBezTo>
                <a:cubicBezTo>
                  <a:pt x="3991776" y="3319337"/>
                  <a:pt x="3972263" y="3578480"/>
                  <a:pt x="3968496" y="3815145"/>
                </a:cubicBezTo>
                <a:cubicBezTo>
                  <a:pt x="3964729" y="4051810"/>
                  <a:pt x="3945297" y="4266377"/>
                  <a:pt x="3968496" y="4386732"/>
                </a:cubicBezTo>
                <a:cubicBezTo>
                  <a:pt x="3991695" y="4507087"/>
                  <a:pt x="4004921" y="5279303"/>
                  <a:pt x="3968496" y="5638781"/>
                </a:cubicBezTo>
                <a:cubicBezTo>
                  <a:pt x="3970175" y="5744278"/>
                  <a:pt x="3879673" y="5826204"/>
                  <a:pt x="3773405" y="5833872"/>
                </a:cubicBezTo>
                <a:cubicBezTo>
                  <a:pt x="3509286" y="5808684"/>
                  <a:pt x="3302330" y="5815570"/>
                  <a:pt x="3177019" y="5833872"/>
                </a:cubicBezTo>
                <a:cubicBezTo>
                  <a:pt x="3051708" y="5852174"/>
                  <a:pt x="2891837" y="5843454"/>
                  <a:pt x="2687983" y="5833872"/>
                </a:cubicBezTo>
                <a:cubicBezTo>
                  <a:pt x="2484129" y="5824290"/>
                  <a:pt x="2341048" y="5836148"/>
                  <a:pt x="2020031" y="5833872"/>
                </a:cubicBezTo>
                <a:cubicBezTo>
                  <a:pt x="1699014" y="5831596"/>
                  <a:pt x="1708672" y="5837939"/>
                  <a:pt x="1530995" y="5833872"/>
                </a:cubicBezTo>
                <a:cubicBezTo>
                  <a:pt x="1353318" y="5829805"/>
                  <a:pt x="1197450" y="5814515"/>
                  <a:pt x="898826" y="5833872"/>
                </a:cubicBezTo>
                <a:cubicBezTo>
                  <a:pt x="600202" y="5853229"/>
                  <a:pt x="338542" y="5816627"/>
                  <a:pt x="195091" y="5833872"/>
                </a:cubicBezTo>
                <a:cubicBezTo>
                  <a:pt x="87030" y="5813038"/>
                  <a:pt x="2283" y="5749691"/>
                  <a:pt x="0" y="5638781"/>
                </a:cubicBezTo>
                <a:cubicBezTo>
                  <a:pt x="30957" y="5426306"/>
                  <a:pt x="6967" y="5126362"/>
                  <a:pt x="0" y="4903883"/>
                </a:cubicBezTo>
                <a:cubicBezTo>
                  <a:pt x="-6967" y="4681404"/>
                  <a:pt x="28412" y="4580943"/>
                  <a:pt x="0" y="4332295"/>
                </a:cubicBezTo>
                <a:cubicBezTo>
                  <a:pt x="-28412" y="4083647"/>
                  <a:pt x="31339" y="3837812"/>
                  <a:pt x="0" y="3597397"/>
                </a:cubicBezTo>
                <a:cubicBezTo>
                  <a:pt x="-31339" y="3356982"/>
                  <a:pt x="-26996" y="3253740"/>
                  <a:pt x="0" y="2971373"/>
                </a:cubicBezTo>
                <a:cubicBezTo>
                  <a:pt x="26996" y="2689006"/>
                  <a:pt x="-21081" y="2455701"/>
                  <a:pt x="0" y="2290912"/>
                </a:cubicBezTo>
                <a:cubicBezTo>
                  <a:pt x="21081" y="2126123"/>
                  <a:pt x="21327" y="1767606"/>
                  <a:pt x="0" y="1556014"/>
                </a:cubicBezTo>
                <a:cubicBezTo>
                  <a:pt x="-21327" y="1344422"/>
                  <a:pt x="32058" y="1150325"/>
                  <a:pt x="0" y="821115"/>
                </a:cubicBezTo>
                <a:cubicBezTo>
                  <a:pt x="-32058" y="491905"/>
                  <a:pt x="-2929" y="337179"/>
                  <a:pt x="0" y="195091"/>
                </a:cubicBezTo>
                <a:close/>
              </a:path>
              <a:path w="3968496" h="5833872" stroke="0" extrusionOk="0">
                <a:moveTo>
                  <a:pt x="0" y="195091"/>
                </a:moveTo>
                <a:cubicBezTo>
                  <a:pt x="1865" y="85067"/>
                  <a:pt x="91326" y="20144"/>
                  <a:pt x="195091" y="0"/>
                </a:cubicBezTo>
                <a:cubicBezTo>
                  <a:pt x="332257" y="22200"/>
                  <a:pt x="586080" y="13258"/>
                  <a:pt x="719910" y="0"/>
                </a:cubicBezTo>
                <a:cubicBezTo>
                  <a:pt x="853740" y="-13258"/>
                  <a:pt x="1144289" y="3207"/>
                  <a:pt x="1280513" y="0"/>
                </a:cubicBezTo>
                <a:cubicBezTo>
                  <a:pt x="1416737" y="-3207"/>
                  <a:pt x="1696084" y="18680"/>
                  <a:pt x="1912682" y="0"/>
                </a:cubicBezTo>
                <a:cubicBezTo>
                  <a:pt x="2129280" y="-18680"/>
                  <a:pt x="2267438" y="-6564"/>
                  <a:pt x="2473284" y="0"/>
                </a:cubicBezTo>
                <a:cubicBezTo>
                  <a:pt x="2679130" y="6564"/>
                  <a:pt x="2875363" y="-15673"/>
                  <a:pt x="3105453" y="0"/>
                </a:cubicBezTo>
                <a:cubicBezTo>
                  <a:pt x="3335543" y="15673"/>
                  <a:pt x="3637841" y="-12163"/>
                  <a:pt x="3773405" y="0"/>
                </a:cubicBezTo>
                <a:cubicBezTo>
                  <a:pt x="3889971" y="-4882"/>
                  <a:pt x="3963254" y="84627"/>
                  <a:pt x="3968496" y="195091"/>
                </a:cubicBezTo>
                <a:cubicBezTo>
                  <a:pt x="3948528" y="412972"/>
                  <a:pt x="3976943" y="689926"/>
                  <a:pt x="3968496" y="929989"/>
                </a:cubicBezTo>
                <a:cubicBezTo>
                  <a:pt x="3960049" y="1170052"/>
                  <a:pt x="3987928" y="1216200"/>
                  <a:pt x="3968496" y="1447140"/>
                </a:cubicBezTo>
                <a:cubicBezTo>
                  <a:pt x="3949064" y="1678080"/>
                  <a:pt x="3959578" y="1833949"/>
                  <a:pt x="3968496" y="2073164"/>
                </a:cubicBezTo>
                <a:cubicBezTo>
                  <a:pt x="3977414" y="2312379"/>
                  <a:pt x="3983333" y="2515962"/>
                  <a:pt x="3968496" y="2699188"/>
                </a:cubicBezTo>
                <a:cubicBezTo>
                  <a:pt x="3953659" y="2882414"/>
                  <a:pt x="3976253" y="3000228"/>
                  <a:pt x="3968496" y="3216339"/>
                </a:cubicBezTo>
                <a:cubicBezTo>
                  <a:pt x="3960739" y="3432450"/>
                  <a:pt x="3949586" y="3612389"/>
                  <a:pt x="3968496" y="3787926"/>
                </a:cubicBezTo>
                <a:cubicBezTo>
                  <a:pt x="3987406" y="3963463"/>
                  <a:pt x="3971419" y="4193771"/>
                  <a:pt x="3968496" y="4413951"/>
                </a:cubicBezTo>
                <a:cubicBezTo>
                  <a:pt x="3965573" y="4634132"/>
                  <a:pt x="4012225" y="5033150"/>
                  <a:pt x="3968496" y="5638781"/>
                </a:cubicBezTo>
                <a:cubicBezTo>
                  <a:pt x="3973662" y="5750199"/>
                  <a:pt x="3887015" y="5834334"/>
                  <a:pt x="3773405" y="5833872"/>
                </a:cubicBezTo>
                <a:cubicBezTo>
                  <a:pt x="3593250" y="5826065"/>
                  <a:pt x="3396107" y="5840467"/>
                  <a:pt x="3141236" y="5833872"/>
                </a:cubicBezTo>
                <a:cubicBezTo>
                  <a:pt x="2886365" y="5827277"/>
                  <a:pt x="2750780" y="5861959"/>
                  <a:pt x="2544851" y="5833872"/>
                </a:cubicBezTo>
                <a:cubicBezTo>
                  <a:pt x="2338923" y="5805785"/>
                  <a:pt x="2243047" y="5844534"/>
                  <a:pt x="2020031" y="5833872"/>
                </a:cubicBezTo>
                <a:cubicBezTo>
                  <a:pt x="1797015" y="5823210"/>
                  <a:pt x="1661182" y="5860733"/>
                  <a:pt x="1459429" y="5833872"/>
                </a:cubicBezTo>
                <a:cubicBezTo>
                  <a:pt x="1257676" y="5807011"/>
                  <a:pt x="1060974" y="5860059"/>
                  <a:pt x="934609" y="5833872"/>
                </a:cubicBezTo>
                <a:cubicBezTo>
                  <a:pt x="808244" y="5807685"/>
                  <a:pt x="498246" y="5857776"/>
                  <a:pt x="195091" y="5833872"/>
                </a:cubicBezTo>
                <a:cubicBezTo>
                  <a:pt x="94715" y="5846293"/>
                  <a:pt x="-14342" y="5730430"/>
                  <a:pt x="0" y="5638781"/>
                </a:cubicBezTo>
                <a:cubicBezTo>
                  <a:pt x="21562" y="5338858"/>
                  <a:pt x="17417" y="5276283"/>
                  <a:pt x="0" y="5012757"/>
                </a:cubicBezTo>
                <a:cubicBezTo>
                  <a:pt x="-17417" y="4749231"/>
                  <a:pt x="25543" y="4644174"/>
                  <a:pt x="0" y="4386732"/>
                </a:cubicBezTo>
                <a:cubicBezTo>
                  <a:pt x="-25543" y="4129290"/>
                  <a:pt x="-25739" y="3982281"/>
                  <a:pt x="0" y="3869582"/>
                </a:cubicBezTo>
                <a:cubicBezTo>
                  <a:pt x="25739" y="3756883"/>
                  <a:pt x="-23338" y="3566139"/>
                  <a:pt x="0" y="3297994"/>
                </a:cubicBezTo>
                <a:cubicBezTo>
                  <a:pt x="23338" y="3029849"/>
                  <a:pt x="-32883" y="2842031"/>
                  <a:pt x="0" y="2617533"/>
                </a:cubicBezTo>
                <a:cubicBezTo>
                  <a:pt x="32883" y="2393035"/>
                  <a:pt x="-11280" y="2184832"/>
                  <a:pt x="0" y="2045946"/>
                </a:cubicBezTo>
                <a:cubicBezTo>
                  <a:pt x="11280" y="1907060"/>
                  <a:pt x="7189" y="1605106"/>
                  <a:pt x="0" y="1256611"/>
                </a:cubicBezTo>
                <a:cubicBezTo>
                  <a:pt x="-7189" y="908116"/>
                  <a:pt x="-12026" y="685481"/>
                  <a:pt x="0" y="195091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D8DEE4"/>
            </a:solidFill>
            <a:extLst>
              <a:ext uri="{C807C97D-BFC1-408E-A445-0C87EB9F89A2}">
                <ask:lineSketchStyleProps xmlns:ask="http://schemas.microsoft.com/office/drawing/2018/sketchyshapes" sd="1412595518">
                  <a:prstGeom prst="roundRect">
                    <a:avLst>
                      <a:gd name="adj" fmla="val 491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47888" y="749807"/>
            <a:ext cx="3803904" cy="5833871"/>
          </a:xfrm>
          <a:prstGeom prst="roundRect">
            <a:avLst>
              <a:gd name="adj" fmla="val 6571"/>
            </a:avLst>
          </a:prstGeom>
          <a:solidFill>
            <a:srgbClr val="FFFFFF"/>
          </a:solidFill>
          <a:ln w="28575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4368" y="809685"/>
            <a:ext cx="1708032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2000" b="1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1. Pilot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8100" y="949452"/>
            <a:ext cx="1669560" cy="187744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100" b="0" i="0" dirty="0">
                <a:solidFill>
                  <a:srgbClr val="5B6670"/>
                </a:solidFill>
                <a:latin typeface="Aptos"/>
              </a:rPr>
              <a:t>Public ICLR 2024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" y="1214292"/>
            <a:ext cx="3602736" cy="1592916"/>
          </a:xfrm>
          <a:prstGeom prst="roundRect">
            <a:avLst/>
          </a:prstGeom>
          <a:solidFill>
            <a:srgbClr val="F0FDFA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0F766E"/>
                </a:solidFill>
                <a:latin typeface="Aptos"/>
              </a:rPr>
              <a:t>Reviewer conflict</a:t>
            </a:r>
            <a:endParaRPr lang="en-US" b="1" i="0" dirty="0">
              <a:solidFill>
                <a:srgbClr val="0F766E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0F766E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"weak on novelty"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tx1"/>
                </a:solidFill>
                <a:latin typeface="Aptos"/>
              </a:rPr>
              <a:t>Ex.1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"first use of GNN"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  <a:endParaRPr lang="en-US" sz="10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endParaRPr sz="400" b="0" i="0" dirty="0">
              <a:solidFill>
                <a:srgbClr val="5B6670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A: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"significant advance"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chemeClr val="accent6">
                    <a:lumMod val="75000"/>
                  </a:schemeClr>
                </a:solidFill>
                <a:latin typeface="Aptos"/>
              </a:rPr>
              <a:t>Ex.2 </a:t>
            </a:r>
            <a:r>
              <a:rPr sz="1100" b="1" i="0" dirty="0">
                <a:solidFill>
                  <a:srgbClr val="0F766E"/>
                </a:solidFill>
                <a:latin typeface="Aptos"/>
              </a:rPr>
              <a:t>B: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"module designs unclear"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</a:t>
            </a:r>
            <a:r>
              <a:rPr sz="1000" b="0" i="0" dirty="0" err="1">
                <a:solidFill>
                  <a:srgbClr val="5B6670"/>
                </a:solidFill>
                <a:latin typeface="Aptos"/>
              </a:rPr>
              <a:t>rhgIgTSSxW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530" y="2528754"/>
            <a:ext cx="1810624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3"/>
              </a:rPr>
              <a:t>links: cXs5md5wAq, </a:t>
            </a:r>
            <a:r>
              <a:rPr sz="1000" b="0" i="0" dirty="0" err="1">
                <a:solidFill>
                  <a:srgbClr val="0369A1"/>
                </a:solidFill>
                <a:latin typeface="Aptos"/>
                <a:hlinkClick r:id="rId3"/>
              </a:rPr>
              <a:t>rhgIgTSSxW</a:t>
            </a:r>
            <a:endParaRPr sz="1000" b="0" i="0" dirty="0">
              <a:solidFill>
                <a:srgbClr val="0369A1"/>
              </a:solidFill>
              <a:latin typeface="Aptos"/>
              <a:hlinkClick r:id="rId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10896" y="2962655"/>
            <a:ext cx="3602736" cy="1507719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45309"/>
                </a:solidFill>
                <a:latin typeface="Aptos"/>
              </a:rPr>
              <a:t>Vague / low-actionability</a:t>
            </a:r>
            <a:endParaRPr lang="en-US" b="1" i="0" dirty="0">
              <a:solidFill>
                <a:srgbClr val="B45309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45309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"presentation is chaotic"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"Please refer to Weaknesses"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"too simple"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(eR4W9tnJoZ)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45309"/>
                </a:solidFill>
                <a:latin typeface="Aptos"/>
              </a:rPr>
              <a:t>V4: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"no new algorithm, but a trick"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(B0wJ5oCPdB)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858" y="4135587"/>
            <a:ext cx="1820242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4"/>
              </a:rPr>
              <a:t>links: eR4W9tnJoZ, B0wJ5oCPdB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" y="4632667"/>
            <a:ext cx="3602736" cy="1501332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584" tIns="64008" rIns="100584" bIns="64008" rtlCol="0" anchor="t"/>
          <a:lstStyle/>
          <a:p>
            <a:pPr algn="ctr">
              <a:spcAft>
                <a:spcPts val="120"/>
              </a:spcAft>
            </a:pPr>
            <a:r>
              <a:rPr b="1" i="0" dirty="0">
                <a:solidFill>
                  <a:srgbClr val="B91C1C"/>
                </a:solidFill>
                <a:latin typeface="Aptos"/>
              </a:rPr>
              <a:t>Tone risk</a:t>
            </a:r>
            <a:endParaRPr lang="en-US" b="1" dirty="0">
              <a:solidFill>
                <a:srgbClr val="B91C1C"/>
              </a:solidFill>
              <a:latin typeface="Aptos"/>
            </a:endParaRPr>
          </a:p>
          <a:p>
            <a:pPr algn="ctr">
              <a:spcAft>
                <a:spcPts val="120"/>
              </a:spcAft>
            </a:pPr>
            <a:endParaRPr sz="500" b="1" i="0" dirty="0">
              <a:solidFill>
                <a:srgbClr val="B91C1C"/>
              </a:solidFill>
              <a:latin typeface="Aptos"/>
            </a:endParaRP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T1: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"I have no idea / why bother"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(xNdE7RiRyP)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T2: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"fatal flaws"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T3: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"deeply flawed"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(fI6TkT050a)</a:t>
            </a:r>
          </a:p>
          <a:p>
            <a:pPr>
              <a:spcAft>
                <a:spcPts val="140"/>
              </a:spcAft>
            </a:pPr>
            <a:r>
              <a:rPr sz="1100" b="1" i="0" dirty="0">
                <a:solidFill>
                  <a:srgbClr val="B91C1C"/>
                </a:solidFill>
                <a:latin typeface="Aptos"/>
              </a:rPr>
              <a:t>T4: </a:t>
            </a:r>
            <a:r>
              <a:rPr sz="1100" b="0" i="1" dirty="0">
                <a:solidFill>
                  <a:srgbClr val="111827"/>
                </a:solidFill>
                <a:latin typeface="Aptos"/>
              </a:rPr>
              <a:t>"authors appear to be confused"</a:t>
            </a:r>
            <a:r>
              <a:rPr sz="1000" b="0" i="0" dirty="0">
                <a:solidFill>
                  <a:srgbClr val="5B6670"/>
                </a:solidFill>
                <a:latin typeface="Aptos"/>
              </a:rPr>
              <a:t>  (cXs5md5wAq)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79" y="5845529"/>
            <a:ext cx="1677575" cy="172355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1000" b="0" i="0" dirty="0">
                <a:solidFill>
                  <a:srgbClr val="0369A1"/>
                </a:solidFill>
                <a:latin typeface="Aptos"/>
                <a:hlinkClick r:id="rId5"/>
              </a:rPr>
              <a:t>links: xNdE7RiRyP, fI6TkT050a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" y="6168069"/>
            <a:ext cx="3602736" cy="34747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64008" rIns="73152" bIns="64008" rtlCol="0" anchor="t"/>
          <a:lstStyle/>
          <a:p>
            <a:pPr algn="ctr">
              <a:spcAft>
                <a:spcPts val="0"/>
              </a:spcAft>
            </a:pPr>
            <a:r>
              <a:rPr sz="1050" b="1" i="0" dirty="0">
                <a:solidFill>
                  <a:schemeClr val="tx1"/>
                </a:solidFill>
                <a:latin typeface="Aptos"/>
              </a:rPr>
              <a:t>Audit review quality, </a:t>
            </a:r>
            <a:r>
              <a:rPr lang="en-US" altLang="zh-CN" sz="1050" b="1" i="0" dirty="0">
                <a:solidFill>
                  <a:schemeClr val="tx1"/>
                </a:solidFill>
                <a:latin typeface="Aptos"/>
              </a:rPr>
              <a:t>and then assist on rebuttal</a:t>
            </a:r>
            <a:endParaRPr sz="1050" b="1" i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412480" y="799047"/>
            <a:ext cx="2838790" cy="32624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3. Current scoring result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188720"/>
            <a:ext cx="3429000" cy="17373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>
              <a:spcAft>
                <a:spcPts val="0"/>
              </a:spcAft>
            </a:pPr>
            <a:r>
              <a:rPr sz="700" b="0" i="0">
                <a:solidFill>
                  <a:srgbClr val="475569"/>
                </a:solidFill>
                <a:latin typeface="Aptos"/>
              </a:rPr>
              <a:t>Same TabR review: full scorecard + zoomed claim</a:t>
            </a:r>
          </a:p>
        </p:txBody>
      </p:sp>
      <p:pic>
        <p:nvPicPr>
          <p:cNvPr id="54" name="Picture 53" descr="review_scoring_snapshot_CEBB2izG6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1463040"/>
            <a:ext cx="2376352" cy="253746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8513064" y="1554480"/>
            <a:ext cx="585216" cy="21945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13716" rIns="18288" bIns="13716" rtlCol="0" anchor="t"/>
          <a:lstStyle/>
          <a:p>
            <a:pPr algn="ctr">
              <a:spcAft>
                <a:spcPts val="0"/>
              </a:spcAft>
            </a:pPr>
            <a:r>
              <a:rPr sz="720" b="1" i="0">
                <a:solidFill>
                  <a:srgbClr val="FFFFFF"/>
                </a:solidFill>
                <a:latin typeface="Aptos"/>
              </a:rPr>
              <a:t>full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797976" y="1587918"/>
            <a:ext cx="1170432" cy="20116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35"/>
              </a:spcAft>
            </a:pPr>
            <a:r>
              <a:rPr sz="1000" b="1" i="0">
                <a:solidFill>
                  <a:srgbClr val="C81E1E"/>
                </a:solidFill>
                <a:latin typeface="Aptos"/>
              </a:rPr>
              <a:t>RQS</a:t>
            </a:r>
          </a:p>
          <a:p>
            <a:pPr algn="ctr">
              <a:spcAft>
                <a:spcPts val="70"/>
              </a:spcAft>
            </a:pPr>
            <a:r>
              <a:rPr sz="2450" b="1" i="0">
                <a:solidFill>
                  <a:srgbClr val="C81E1E"/>
                </a:solidFill>
                <a:latin typeface="Aptos"/>
              </a:rPr>
              <a:t>63</a:t>
            </a:r>
          </a:p>
          <a:p>
            <a:pPr algn="ctr">
              <a:spcAft>
                <a:spcPts val="20"/>
              </a:spcAft>
            </a:pPr>
            <a:r>
              <a:rPr sz="850" b="1" i="0">
                <a:solidFill>
                  <a:srgbClr val="00796B"/>
                </a:solidFill>
                <a:latin typeface="Aptos"/>
              </a:rPr>
              <a:t>Claim 3</a:t>
            </a:r>
          </a:p>
          <a:p>
            <a:pPr algn="ctr">
              <a:spcAft>
                <a:spcPts val="20"/>
              </a:spcAft>
            </a:pPr>
            <a:r>
              <a:rPr sz="850" b="1" i="0">
                <a:solidFill>
                  <a:srgbClr val="00796B"/>
                </a:solidFill>
                <a:latin typeface="Aptos"/>
              </a:rPr>
              <a:t>supported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475569"/>
                </a:solidFill>
                <a:latin typeface="Aptos"/>
              </a:rPr>
              <a:t>medium confidence</a:t>
            </a:r>
          </a:p>
        </p:txBody>
      </p:sp>
      <p:pic>
        <p:nvPicPr>
          <p:cNvPr id="57" name="Picture 56" descr="review_scoring_snapshot_CEBB2izG6I_zoo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4079139"/>
            <a:ext cx="3419856" cy="205191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1168" y="6675120"/>
            <a:ext cx="11430000" cy="109728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l"/>
            <a:r>
              <a:rPr sz="690" b="0" i="0" dirty="0">
                <a:solidFill>
                  <a:srgbClr val="5B6670"/>
                </a:solidFill>
                <a:latin typeface="Aptos"/>
              </a:rPr>
              <a:t>RQS = Review Quality Score. Preliminary MVP outputs for calibration, not final ground truth.</a:t>
            </a:r>
          </a:p>
        </p:txBody>
      </p:sp>
      <p:sp>
        <p:nvSpPr>
          <p:cNvPr id="60" name="Rounded Rectangle 50">
            <a:extLst>
              <a:ext uri="{FF2B5EF4-FFF2-40B4-BE49-F238E27FC236}">
                <a16:creationId xmlns:a16="http://schemas.microsoft.com/office/drawing/2014/main" id="{9BAE8673-B03D-753E-D52A-30FCD464C3DA}"/>
              </a:ext>
            </a:extLst>
          </p:cNvPr>
          <p:cNvSpPr/>
          <p:nvPr/>
        </p:nvSpPr>
        <p:spPr>
          <a:xfrm>
            <a:off x="8421624" y="6113205"/>
            <a:ext cx="3547872" cy="2286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lang="fi-FI" sz="900" b="1" dirty="0">
                <a:solidFill>
                  <a:schemeClr val="tx1"/>
                </a:solidFill>
                <a:latin typeface="Aptos"/>
              </a:rPr>
              <a:t>https://yongwen12.github.io/SecondOpinion/?v=7eaf5b6</a:t>
            </a:r>
            <a:endParaRPr sz="900" b="1" i="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292932" y="795528"/>
            <a:ext cx="3813047" cy="31089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>
              <a:spcAft>
                <a:spcPts val="0"/>
              </a:spcAft>
            </a:pPr>
            <a:r>
              <a:rPr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2. Audit flow on a longer review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4256" y="1106424"/>
            <a:ext cx="3584448" cy="164592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>
              <a:spcAft>
                <a:spcPts val="0"/>
              </a:spcAft>
            </a:pPr>
            <a:r>
              <a:rPr sz="900" b="0" i="0" dirty="0">
                <a:solidFill>
                  <a:srgbClr val="475569"/>
                </a:solidFill>
                <a:latin typeface="Aptos"/>
              </a:rPr>
              <a:t>Example: </a:t>
            </a:r>
            <a:r>
              <a:rPr sz="900" b="0" i="0" dirty="0" err="1">
                <a:solidFill>
                  <a:srgbClr val="475569"/>
                </a:solidFill>
                <a:latin typeface="Aptos"/>
              </a:rPr>
              <a:t>TabR</a:t>
            </a:r>
            <a:r>
              <a:rPr sz="900" b="0" i="0" dirty="0">
                <a:solidFill>
                  <a:srgbClr val="475569"/>
                </a:solidFill>
                <a:latin typeface="Aptos"/>
              </a:rPr>
              <a:t> review yVdQ7kKCcl (rating 3)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34256" y="1380744"/>
            <a:ext cx="3621024" cy="978408"/>
          </a:xfrm>
          <a:prstGeom prst="roundRect">
            <a:avLst/>
          </a:prstGeom>
          <a:solidFill>
            <a:srgbClr val="F9FAFB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40"/>
              </a:spcAft>
            </a:pPr>
            <a:r>
              <a:rPr sz="1200" b="1" i="0" dirty="0">
                <a:solidFill>
                  <a:srgbClr val="111827"/>
                </a:solidFill>
                <a:latin typeface="Aptos"/>
              </a:rPr>
              <a:t>Reviewer wrote</a:t>
            </a:r>
          </a:p>
          <a:p>
            <a:pPr>
              <a:spcAft>
                <a:spcPts val="26"/>
              </a:spcAft>
            </a:pPr>
            <a:r>
              <a:rPr sz="1050" b="0" i="1" dirty="0">
                <a:solidFill>
                  <a:srgbClr val="111827"/>
                </a:solidFill>
                <a:latin typeface="Aptos"/>
              </a:rPr>
              <a:t>module designs are not entirely clear</a:t>
            </a:r>
            <a:r>
              <a:rPr lang="en-US" sz="1050" b="0" i="1" dirty="0">
                <a:solidFill>
                  <a:srgbClr val="111827"/>
                </a:solidFill>
                <a:latin typeface="Aptos"/>
              </a:rPr>
              <a:t>.</a:t>
            </a:r>
            <a:endParaRPr lang="en-US" sz="400" b="0" i="1" dirty="0">
              <a:solidFill>
                <a:srgbClr val="111827"/>
              </a:solidFill>
              <a:latin typeface="Aptos"/>
            </a:endParaRPr>
          </a:p>
          <a:p>
            <a:pPr>
              <a:spcAft>
                <a:spcPts val="26"/>
              </a:spcAft>
            </a:pPr>
            <a:r>
              <a:rPr sz="1050" b="0" i="1" dirty="0">
                <a:solidFill>
                  <a:srgbClr val="111827"/>
                </a:solidFill>
                <a:latin typeface="Aptos"/>
              </a:rPr>
              <a:t>why L2 beats dot product and why T uses </a:t>
            </a:r>
            <a:r>
              <a:rPr lang="en-US" sz="1050" b="0" i="1" dirty="0" err="1">
                <a:solidFill>
                  <a:srgbClr val="111827"/>
                </a:solidFill>
                <a:latin typeface="Aptos"/>
              </a:rPr>
              <a:t>L</a:t>
            </a:r>
            <a:r>
              <a:rPr sz="1050" b="0" i="1" dirty="0" err="1">
                <a:solidFill>
                  <a:srgbClr val="111827"/>
                </a:solidFill>
                <a:latin typeface="Aptos"/>
              </a:rPr>
              <a:t>inearWithoutBias</a:t>
            </a:r>
            <a:r>
              <a:rPr sz="1050" b="0" i="1" dirty="0">
                <a:solidFill>
                  <a:srgbClr val="111827"/>
                </a:solidFill>
                <a:latin typeface="Aptos"/>
              </a:rPr>
              <a:t>.</a:t>
            </a:r>
            <a:endParaRPr sz="500" b="0" i="1" dirty="0">
              <a:solidFill>
                <a:srgbClr val="111827"/>
              </a:solidFill>
              <a:latin typeface="Aptos"/>
            </a:endParaRPr>
          </a:p>
          <a:p>
            <a:pPr>
              <a:spcAft>
                <a:spcPts val="26"/>
              </a:spcAft>
            </a:pPr>
            <a:r>
              <a:rPr lang="en-US" sz="1050" b="0" i="1" dirty="0">
                <a:solidFill>
                  <a:srgbClr val="111827"/>
                </a:solidFill>
                <a:latin typeface="Aptos"/>
              </a:rPr>
              <a:t>I</a:t>
            </a:r>
            <a:r>
              <a:rPr sz="1050" b="0" i="1" dirty="0">
                <a:solidFill>
                  <a:srgbClr val="111827"/>
                </a:solidFill>
                <a:latin typeface="Aptos"/>
              </a:rPr>
              <a:t>s L2 sensitive to uninformative features?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91173" y="1446186"/>
            <a:ext cx="1005840" cy="1828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515" b="1" i="0" dirty="0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16752" y="2715768"/>
            <a:ext cx="256032" cy="12801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334256" y="2544318"/>
            <a:ext cx="3621024" cy="937260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40"/>
              </a:spcAft>
            </a:pPr>
            <a:r>
              <a:rPr lang="en-US" sz="1050" b="1" dirty="0">
                <a:solidFill>
                  <a:schemeClr val="tx1"/>
                </a:solidFill>
                <a:latin typeface="Aptos"/>
              </a:rPr>
              <a:t>E</a:t>
            </a:r>
            <a:r>
              <a:rPr sz="1050" b="1" i="0" dirty="0">
                <a:solidFill>
                  <a:schemeClr val="tx1"/>
                </a:solidFill>
                <a:latin typeface="Aptos"/>
              </a:rPr>
              <a:t>xtracts review </a:t>
            </a:r>
            <a:r>
              <a:rPr lang="en-US" sz="1050" b="1" i="0" dirty="0">
                <a:solidFill>
                  <a:schemeClr val="tx1"/>
                </a:solidFill>
                <a:latin typeface="Aptos"/>
              </a:rPr>
              <a:t>claims</a:t>
            </a:r>
            <a:endParaRPr sz="1050" b="1" i="0" dirty="0">
              <a:solidFill>
                <a:schemeClr val="tx1"/>
              </a:solidFill>
              <a:latin typeface="Aptos"/>
            </a:endParaRP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C1 L2 vs dot product | C2 </a:t>
            </a:r>
            <a:r>
              <a:rPr sz="1100" b="0" i="0" dirty="0" err="1">
                <a:solidFill>
                  <a:srgbClr val="111827"/>
                </a:solidFill>
                <a:latin typeface="Aptos"/>
              </a:rPr>
              <a:t>LinearWithoutBias</a:t>
            </a:r>
            <a:endParaRPr sz="1100" b="0" i="0" dirty="0">
              <a:solidFill>
                <a:srgbClr val="111827"/>
              </a:solidFill>
              <a:latin typeface="Aptos"/>
            </a:endParaRP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C3 robustness shifts | C4 large-scale efficiency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C5 missing SOTA + feature sensitivity | C6 typo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86600" y="2587752"/>
            <a:ext cx="1005840" cy="18288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515" b="1" i="0" dirty="0">
                <a:solidFill>
                  <a:srgbClr val="FFFFFF"/>
                </a:solidFill>
                <a:latin typeface="Aptos"/>
              </a:rPr>
              <a:t>LLM: gpt-5-nano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16752" y="3611880"/>
            <a:ext cx="256032" cy="12801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43399" y="3621024"/>
            <a:ext cx="3621024" cy="995172"/>
          </a:xfrm>
          <a:prstGeom prst="roundRect">
            <a:avLst/>
          </a:prstGeom>
          <a:solidFill>
            <a:srgbClr val="F0F9FF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40"/>
              </a:spcAft>
            </a:pPr>
            <a:r>
              <a:rPr sz="1100" b="1" i="0" dirty="0">
                <a:solidFill>
                  <a:srgbClr val="006AA8"/>
                </a:solidFill>
                <a:latin typeface="Aptos"/>
              </a:rPr>
              <a:t>Evidence found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Search paper PDF chunks + appendix + author response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Matches: benchmark/data-size response; L2</a:t>
            </a:r>
            <a:r>
              <a:rPr lang="en-US" sz="1100" b="0" i="0" dirty="0">
                <a:solidFill>
                  <a:srgbClr val="111827"/>
                </a:solidFill>
                <a:latin typeface="Aptos"/>
              </a:rPr>
              <a:t> </a:t>
            </a:r>
            <a:r>
              <a:rPr sz="1100" b="0" i="0" dirty="0">
                <a:solidFill>
                  <a:srgbClr val="111827"/>
                </a:solidFill>
                <a:latin typeface="Aptos"/>
              </a:rPr>
              <a:t>robustness response; extended tables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100139" y="3683797"/>
            <a:ext cx="1005840" cy="1828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515" b="1" i="0" dirty="0">
                <a:solidFill>
                  <a:srgbClr val="FFFFFF"/>
                </a:solidFill>
                <a:latin typeface="Aptos"/>
              </a:rPr>
              <a:t>LOCAL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16752" y="4425696"/>
            <a:ext cx="256032" cy="12801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379976" y="4768506"/>
            <a:ext cx="3621024" cy="985114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40"/>
              </a:spcAft>
            </a:pPr>
            <a:r>
              <a:rPr sz="1100" b="1" i="0" dirty="0" err="1">
                <a:solidFill>
                  <a:schemeClr val="tx1"/>
                </a:solidFill>
                <a:latin typeface="Aptos"/>
              </a:rPr>
              <a:t>SecondOpinion</a:t>
            </a:r>
            <a:r>
              <a:rPr sz="1100" b="1" i="0" dirty="0">
                <a:solidFill>
                  <a:schemeClr val="tx1"/>
                </a:solidFill>
                <a:latin typeface="Aptos"/>
              </a:rPr>
              <a:t> judges claims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C3: agree / supported / medium confidence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C1-C2: mixed / partially supported / low</a:t>
            </a:r>
          </a:p>
          <a:p>
            <a:pPr>
              <a:spcAft>
                <a:spcPts val="26"/>
              </a:spcAft>
            </a:pPr>
            <a:r>
              <a:rPr sz="1100" b="0" i="0" dirty="0">
                <a:solidFill>
                  <a:srgbClr val="111827"/>
                </a:solidFill>
                <a:latin typeface="Aptos"/>
              </a:rPr>
              <a:t>Guidance: add theory + ablation + large-scale robustness table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55180" y="4810658"/>
            <a:ext cx="1005840" cy="18288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515" b="1" i="0" dirty="0">
                <a:solidFill>
                  <a:srgbClr val="FFFFFF"/>
                </a:solidFill>
                <a:latin typeface="Aptos"/>
              </a:rPr>
              <a:t>LLM: gpt-5-nano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16752" y="5358384"/>
            <a:ext cx="256032" cy="128016"/>
          </a:xfrm>
          <a:prstGeom prst="rect">
            <a:avLst/>
          </a:prstGeom>
          <a:noFill/>
        </p:spPr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64748B"/>
                </a:solidFill>
                <a:latin typeface="Aptos"/>
              </a:rPr>
              <a:t>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79976" y="5857951"/>
            <a:ext cx="3621024" cy="610210"/>
          </a:xfrm>
          <a:prstGeom prst="roundRect">
            <a:avLst/>
          </a:prstGeom>
          <a:solidFill>
            <a:srgbClr val="FEF2F2"/>
          </a:solidFill>
          <a:ln w="1143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40"/>
              </a:spcAft>
            </a:pPr>
            <a:r>
              <a:rPr sz="960" b="1" i="0" dirty="0">
                <a:solidFill>
                  <a:schemeClr val="tx1"/>
                </a:solidFill>
                <a:latin typeface="Aptos"/>
              </a:rPr>
              <a:t>Reliability + report</a:t>
            </a:r>
          </a:p>
          <a:p>
            <a:pPr>
              <a:spcAft>
                <a:spcPts val="26"/>
              </a:spcAft>
            </a:pPr>
            <a:r>
              <a:rPr sz="1050" i="0" dirty="0">
                <a:solidFill>
                  <a:srgbClr val="111827"/>
                </a:solidFill>
                <a:latin typeface="Aptos"/>
              </a:rPr>
              <a:t>Flag expert-check + weak quote evidence; output RQS 63 + HTML report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19" y="5828996"/>
            <a:ext cx="1005840" cy="18288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292" bIns="50292" rtlCol="0" anchor="t"/>
          <a:lstStyle/>
          <a:p>
            <a:pPr algn="ctr">
              <a:spcAft>
                <a:spcPts val="0"/>
              </a:spcAft>
            </a:pPr>
            <a:r>
              <a:rPr sz="515" b="1" i="0">
                <a:solidFill>
                  <a:srgbClr val="FFFFFF"/>
                </a:solidFill>
                <a:latin typeface="Aptos"/>
              </a:rPr>
              <a:t>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403</Words>
  <Application>Microsoft Office PowerPoint</Application>
  <PresentationFormat>宽屏</PresentationFormat>
  <Paragraphs>66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a81675</cp:lastModifiedBy>
  <cp:revision>6</cp:revision>
  <dcterms:created xsi:type="dcterms:W3CDTF">2013-01-27T09:14:16Z</dcterms:created>
  <dcterms:modified xsi:type="dcterms:W3CDTF">2026-05-22T11:21:36Z</dcterms:modified>
  <cp:category/>
</cp:coreProperties>
</file>