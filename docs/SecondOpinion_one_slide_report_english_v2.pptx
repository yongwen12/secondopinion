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review.net/forum?id=cXs5md5wAq" TargetMode="External"/><Relationship Id="rId3" Type="http://schemas.openxmlformats.org/officeDocument/2006/relationships/hyperlink" Target="https://openreview.net/forum?id=eR4W9tnJoZ" TargetMode="External"/><Relationship Id="rId4" Type="http://schemas.openxmlformats.org/officeDocument/2006/relationships/hyperlink" Target="https://openreview.net/forum?id=xNdE7RiRyP" TargetMode="External"/><Relationship Id="rId5" Type="http://schemas.openxmlformats.org/officeDocument/2006/relationships/hyperlink" Target="https://openreview.net/forum?id=rhgIgTSSxW" TargetMode="External"/><Relationship Id="rId6" Type="http://schemas.openxmlformats.org/officeDocument/2006/relationships/hyperlink" Target="file:///C:/Users/Administrator/Desktop/SecondOpinion/reports/mvp_demo_three_papers.html" TargetMode="External"/><Relationship Id="rId7" Type="http://schemas.openxmlformats.org/officeDocument/2006/relationships/hyperlink" Target="https://github.com/Yongwen12/SecondOpin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32918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ptos"/>
              </a:rPr>
              <a:t>SecondOpinion: Evidence-Grounded Review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93776"/>
            <a:ext cx="11338560" cy="18288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5B6670"/>
                </a:solidFill>
                <a:latin typeface="Aptos"/>
              </a:rPr>
              <a:t>Hypothesis-driven MVP: find review-quality signals, audit reviewer points against evidence, and calibrate with human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804672"/>
            <a:ext cx="3703320" cy="5650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60520" y="804672"/>
            <a:ext cx="4069080" cy="5650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30768" y="804672"/>
            <a:ext cx="3502152" cy="5650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932688"/>
            <a:ext cx="3401568" cy="21945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ptos"/>
              </a:rPr>
              <a:t>1. Pilot evidence from ICLR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170432"/>
            <a:ext cx="3429000" cy="20116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60" b="0" i="0">
                <a:solidFill>
                  <a:srgbClr val="5B6670"/>
                </a:solidFill>
                <a:latin typeface="Aptos"/>
              </a:rPr>
              <a:t>The background hypothesis is observable in real public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481328"/>
            <a:ext cx="3419856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710" b="1" i="0">
                <a:solidFill>
                  <a:srgbClr val="0F766E"/>
                </a:solidFill>
                <a:latin typeface="Aptos"/>
              </a:rPr>
              <a:t>Reviewer conflict</a:t>
            </a:r>
          </a:p>
          <a:p>
            <a:pPr>
              <a:spcAft>
                <a:spcPts val="50"/>
              </a:spcAft>
            </a:pPr>
            <a:r>
              <a:rPr sz="770" b="1" i="0">
                <a:solidFill>
                  <a:srgbClr val="111827"/>
                </a:solidFill>
                <a:latin typeface="Aptos"/>
              </a:rPr>
              <a:t>Modelling Microbial Communities with GNNs</a:t>
            </a:r>
          </a:p>
          <a:p>
            <a:pPr>
              <a:spcAft>
                <a:spcPts val="50"/>
              </a:spcAft>
            </a:pPr>
            <a:r>
              <a:rPr sz="620" b="1" i="0">
                <a:solidFill>
                  <a:srgbClr val="6B7280"/>
                </a:solidFill>
                <a:latin typeface="Aptos"/>
              </a:rPr>
              <a:t>Reviewer wording:</a:t>
            </a:r>
          </a:p>
          <a:p>
            <a:pPr>
              <a:spcAft>
                <a:spcPts val="50"/>
              </a:spcAft>
            </a:pPr>
            <a:r>
              <a:rPr sz="670" b="0" i="1">
                <a:solidFill>
                  <a:srgbClr val="111827"/>
                </a:solidFill>
                <a:latin typeface="Aptos"/>
              </a:rPr>
              <a:t>"poorly justified and weak on novelty"</a:t>
            </a:r>
          </a:p>
          <a:p>
            <a:pPr>
              <a:spcAft>
                <a:spcPts val="50"/>
              </a:spcAft>
            </a:pPr>
            <a:r>
              <a:rPr sz="670" b="0" i="1">
                <a:solidFill>
                  <a:srgbClr val="111827"/>
                </a:solidFill>
                <a:latin typeface="Aptos"/>
              </a:rPr>
              <a:t>"Novel problem setup and the first use of GNN"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615184"/>
            <a:ext cx="3255264" cy="10972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20" b="0" i="0">
                <a:solidFill>
                  <a:srgbClr val="0369A1"/>
                </a:solidFill>
                <a:latin typeface="Aptos"/>
                <a:hlinkClick r:id="rId2"/>
              </a:rPr>
              <a:t>openreview.net/forum?id=cXs5md5wAq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2907792"/>
            <a:ext cx="3419856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710" b="1" i="0">
                <a:solidFill>
                  <a:srgbClr val="B45309"/>
                </a:solidFill>
                <a:latin typeface="Aptos"/>
              </a:rPr>
              <a:t>Vague / low-actionability</a:t>
            </a:r>
          </a:p>
          <a:p>
            <a:pPr>
              <a:spcAft>
                <a:spcPts val="50"/>
              </a:spcAft>
            </a:pPr>
            <a:r>
              <a:rPr sz="770" b="1" i="0">
                <a:solidFill>
                  <a:srgbClr val="111827"/>
                </a:solidFill>
                <a:latin typeface="Aptos"/>
              </a:rPr>
              <a:t>Visuo-emotional perception and GenAI</a:t>
            </a:r>
          </a:p>
          <a:p>
            <a:pPr>
              <a:spcAft>
                <a:spcPts val="50"/>
              </a:spcAft>
            </a:pPr>
            <a:r>
              <a:rPr sz="620" b="1" i="0">
                <a:solidFill>
                  <a:srgbClr val="6B7280"/>
                </a:solidFill>
                <a:latin typeface="Aptos"/>
              </a:rPr>
              <a:t>Reviewer wording:</a:t>
            </a:r>
          </a:p>
          <a:p>
            <a:pPr>
              <a:spcAft>
                <a:spcPts val="50"/>
              </a:spcAft>
            </a:pPr>
            <a:r>
              <a:rPr sz="670" b="0" i="1">
                <a:solidFill>
                  <a:srgbClr val="111827"/>
                </a:solidFill>
                <a:latin typeface="Aptos"/>
              </a:rPr>
              <a:t>"The presentation of the paper is chaotic"</a:t>
            </a:r>
          </a:p>
          <a:p>
            <a:pPr>
              <a:spcAft>
                <a:spcPts val="50"/>
              </a:spcAft>
            </a:pPr>
            <a:r>
              <a:rPr sz="670" b="0" i="1">
                <a:solidFill>
                  <a:srgbClr val="111827"/>
                </a:solidFill>
                <a:latin typeface="Aptos"/>
              </a:rPr>
              <a:t>"Please refer to Weaknesses"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041648"/>
            <a:ext cx="3255264" cy="10972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20" b="0" i="0">
                <a:solidFill>
                  <a:srgbClr val="0369A1"/>
                </a:solidFill>
                <a:latin typeface="Aptos"/>
                <a:hlinkClick r:id="rId3"/>
              </a:rPr>
              <a:t>openreview.net/forum?id=eR4W9tnJoZ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4334256"/>
            <a:ext cx="3419856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710" b="1" i="0">
                <a:solidFill>
                  <a:srgbClr val="B91C1C"/>
                </a:solidFill>
                <a:latin typeface="Aptos"/>
              </a:rPr>
              <a:t>Tone risk</a:t>
            </a:r>
          </a:p>
          <a:p>
            <a:pPr>
              <a:spcAft>
                <a:spcPts val="50"/>
              </a:spcAft>
            </a:pPr>
            <a:r>
              <a:rPr sz="770" b="1" i="0">
                <a:solidFill>
                  <a:srgbClr val="111827"/>
                </a:solidFill>
                <a:latin typeface="Aptos"/>
              </a:rPr>
              <a:t>TinyTrain</a:t>
            </a:r>
          </a:p>
          <a:p>
            <a:pPr>
              <a:spcAft>
                <a:spcPts val="50"/>
              </a:spcAft>
            </a:pPr>
            <a:r>
              <a:rPr sz="620" b="1" i="0">
                <a:solidFill>
                  <a:srgbClr val="6B7280"/>
                </a:solidFill>
                <a:latin typeface="Aptos"/>
              </a:rPr>
              <a:t>Reviewer wording:</a:t>
            </a:r>
          </a:p>
          <a:p>
            <a:pPr>
              <a:spcAft>
                <a:spcPts val="50"/>
              </a:spcAft>
            </a:pPr>
            <a:r>
              <a:rPr sz="670" b="0" i="1">
                <a:solidFill>
                  <a:srgbClr val="111827"/>
                </a:solidFill>
                <a:latin typeface="Aptos"/>
              </a:rPr>
              <a:t>"I have no idea..."</a:t>
            </a:r>
          </a:p>
          <a:p>
            <a:pPr>
              <a:spcAft>
                <a:spcPts val="50"/>
              </a:spcAft>
            </a:pPr>
            <a:r>
              <a:rPr sz="670" b="0" i="1">
                <a:solidFill>
                  <a:srgbClr val="111827"/>
                </a:solidFill>
                <a:latin typeface="Aptos"/>
              </a:rPr>
              <a:t>"why bother writing down..."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468112"/>
            <a:ext cx="3255264" cy="10972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20" b="0" i="0">
                <a:solidFill>
                  <a:srgbClr val="0369A1"/>
                </a:solidFill>
                <a:latin typeface="Aptos"/>
                <a:hlinkClick r:id="rId4"/>
              </a:rPr>
              <a:t>openreview.net/forum?id=xNdE7RiRyP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932688"/>
            <a:ext cx="3767328" cy="21945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ptos"/>
              </a:rPr>
              <a:t>2. Core workflow on one review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161288"/>
            <a:ext cx="3657600" cy="11887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50" b="0" i="0">
                <a:solidFill>
                  <a:srgbClr val="0369A1"/>
                </a:solidFill>
                <a:latin typeface="Aptos"/>
                <a:hlinkClick r:id="rId5"/>
              </a:rPr>
              <a:t>Example paper: TabR, openreview.net/forum?id=rhgIgTSSxW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389888"/>
            <a:ext cx="3803904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111827"/>
                </a:solidFill>
                <a:latin typeface="Aptos"/>
              </a:rPr>
              <a:t>Raw reviewer text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"What's the reason for choosing m to be 96? How does m affect the performance of TabR?"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075688"/>
            <a:ext cx="3584448" cy="10058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472" y="2048256"/>
            <a:ext cx="2633472" cy="1463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/>
            <a:r>
              <a:rPr sz="580" b="1" i="0">
                <a:solidFill>
                  <a:srgbClr val="047857"/>
                </a:solidFill>
                <a:latin typeface="Aptos"/>
              </a:rPr>
              <a:t>Claim extractor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2286000"/>
            <a:ext cx="3803904" cy="658368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047857"/>
                </a:solidFill>
                <a:latin typeface="Aptos"/>
              </a:rPr>
              <a:t>Structured claim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claim_type: experiment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importance: major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source_sentence: exact review quote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990088"/>
            <a:ext cx="3584448" cy="10058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19472" y="2962656"/>
            <a:ext cx="2633472" cy="1463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/>
            <a:r>
              <a:rPr sz="580" b="1" i="0">
                <a:solidFill>
                  <a:srgbClr val="0369A1"/>
                </a:solidFill>
                <a:latin typeface="Aptos"/>
              </a:rPr>
              <a:t>PDF/rebuttal chunk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200400"/>
            <a:ext cx="3803904" cy="731520"/>
          </a:xfrm>
          <a:prstGeom prst="roundRect">
            <a:avLst/>
          </a:prstGeom>
          <a:solidFill>
            <a:srgbClr val="F0F9FF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0369A1"/>
                </a:solidFill>
                <a:latin typeface="Aptos"/>
              </a:rPr>
              <a:t>Retrieved evidence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Author response: "In the new PDF, this is addressed in Section A.6."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Also cites: Section E extended results, p.30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977639"/>
            <a:ext cx="3584448" cy="10058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9472" y="3950207"/>
            <a:ext cx="2633472" cy="1463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9144" bIns="9144"/>
          <a:lstStyle/>
          <a:p>
            <a:pPr algn="ctr"/>
            <a:r>
              <a:rPr sz="580" b="1" i="0">
                <a:solidFill>
                  <a:srgbClr val="B45309"/>
                </a:solidFill>
                <a:latin typeface="Aptos"/>
              </a:rPr>
              <a:t>LLM judge + reliability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4187952"/>
            <a:ext cx="3803904" cy="896112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B45309"/>
                </a:solidFill>
                <a:latin typeface="Aptos"/>
              </a:rPr>
              <a:t>Audited output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stance: strongly_agree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verdict: supported, confidence: medium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rebuttal guidance: add a concise m-ablation summary/table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5303520"/>
            <a:ext cx="3749039" cy="56692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40" b="0" i="0">
                <a:solidFill>
                  <a:srgbClr val="5B6670"/>
                </a:solidFill>
                <a:latin typeface="Aptos"/>
              </a:rPr>
              <a:t>Why not multi-agent? The MVP needs traceability and calibration: each conclusion points back to review text, retrieved evidence, stance, and confidence.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932688"/>
            <a:ext cx="3154680" cy="21945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ptos"/>
              </a:rPr>
              <a:t>3. Current demo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1170432"/>
            <a:ext cx="3136392" cy="20116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80" b="0" i="0">
                <a:solidFill>
                  <a:srgbClr val="5B6670"/>
                </a:solidFill>
                <a:latin typeface="Aptos"/>
              </a:rPr>
              <a:t>Run: 3 ICLR papers / 12 official reviews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7072" y="1481328"/>
            <a:ext cx="96012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/>
            <a:r>
              <a:rPr sz="1700" b="1" i="0">
                <a:solidFill>
                  <a:srgbClr val="0F766E"/>
                </a:solidFill>
                <a:latin typeface="Aptos"/>
              </a:rPr>
              <a:t>57.8</a:t>
            </a:r>
          </a:p>
          <a:p>
            <a:pPr algn="ctr"/>
            <a:r>
              <a:rPr sz="620" b="0" i="0">
                <a:solidFill>
                  <a:srgbClr val="5B6670"/>
                </a:solidFill>
                <a:latin typeface="Aptos"/>
              </a:rPr>
              <a:t>avg RQS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1481328"/>
            <a:ext cx="96012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/>
            <a:r>
              <a:rPr sz="1700" b="1" i="0">
                <a:solidFill>
                  <a:srgbClr val="B91C1C"/>
                </a:solidFill>
                <a:latin typeface="Aptos"/>
              </a:rPr>
              <a:t>51</a:t>
            </a:r>
          </a:p>
          <a:p>
            <a:pPr algn="ctr"/>
            <a:r>
              <a:rPr sz="620" b="0" i="0">
                <a:solidFill>
                  <a:srgbClr val="5B6670"/>
                </a:solidFill>
                <a:latin typeface="Aptos"/>
              </a:rPr>
              <a:t>min RQS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16768" y="1481328"/>
            <a:ext cx="96012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/>
            <a:r>
              <a:rPr sz="1700" b="1" i="0">
                <a:solidFill>
                  <a:srgbClr val="0369A1"/>
                </a:solidFill>
                <a:latin typeface="Aptos"/>
              </a:rPr>
              <a:t>64</a:t>
            </a:r>
          </a:p>
          <a:p>
            <a:pPr algn="ctr"/>
            <a:r>
              <a:rPr sz="620" b="0" i="0">
                <a:solidFill>
                  <a:srgbClr val="5B6670"/>
                </a:solidFill>
                <a:latin typeface="Aptos"/>
              </a:rPr>
              <a:t>max RQS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7072" y="2377440"/>
            <a:ext cx="3127248" cy="1170432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0F766E"/>
                </a:solidFill>
                <a:latin typeface="Aptos"/>
              </a:rPr>
              <a:t>Demo finding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Review CEBB2izG6I on TabR: RQS 54/100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Point: m=96 choice and performance impact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SecondOpinion: strongly agree; supported; medium confidence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7072" y="3712463"/>
            <a:ext cx="3127248" cy="1078992"/>
          </a:xfrm>
          <a:prstGeom prst="roundRect">
            <a:avLst/>
          </a:prstGeom>
          <a:solidFill>
            <a:srgbClr val="FEFCE8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B45309"/>
                </a:solidFill>
                <a:latin typeface="Aptos"/>
              </a:rPr>
              <a:t>Observed issue flags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missing-actionable-suggestions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vague-criticism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unverified-quoted-evidence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confidence-downgraded when evidence is limited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7072" y="4956048"/>
            <a:ext cx="3127248" cy="64008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850" b="1" i="0">
                <a:solidFill>
                  <a:srgbClr val="B91C1C"/>
                </a:solidFill>
                <a:latin typeface="Aptos"/>
              </a:rPr>
              <a:t>Next calibration</a:t>
            </a:r>
          </a:p>
          <a:p>
            <a:pPr>
              <a:spcAft>
                <a:spcPts val="50"/>
              </a:spcAft>
            </a:pPr>
            <a:r>
              <a:rPr sz="670" b="0" i="0">
                <a:solidFill>
                  <a:srgbClr val="111827"/>
                </a:solidFill>
                <a:latin typeface="Aptos"/>
              </a:rPr>
              <a:t>Human and AI label the same tasks: claim quality, evidence relevance, verdict correctness, and RQS reasonableness.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5779008"/>
            <a:ext cx="3127248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50"/>
              </a:spcAft>
            </a:pPr>
            <a:r>
              <a:rPr sz="740" b="1" i="0">
                <a:solidFill>
                  <a:srgbClr val="FFFFFF"/>
                </a:solidFill>
                <a:latin typeface="Aptos"/>
              </a:rPr>
              <a:t>Links</a:t>
            </a:r>
          </a:p>
          <a:p>
            <a:pPr>
              <a:spcAft>
                <a:spcPts val="0"/>
              </a:spcAft>
            </a:pPr>
            <a:r>
              <a:rPr sz="580" b="0" i="0">
                <a:solidFill>
                  <a:srgbClr val="D1D5DB"/>
                </a:solidFill>
                <a:latin typeface="Aptos"/>
                <a:hlinkClick r:id="rId6"/>
              </a:rPr>
              <a:t>Demo HTML: reports/mvp_demo_three_papers.html</a:t>
            </a:r>
          </a:p>
          <a:p>
            <a:pPr>
              <a:spcAft>
                <a:spcPts val="0"/>
              </a:spcAft>
            </a:pPr>
            <a:r>
              <a:rPr sz="580" b="0" i="0">
                <a:solidFill>
                  <a:srgbClr val="D1D5DB"/>
                </a:solidFill>
                <a:latin typeface="Aptos"/>
                <a:hlinkClick r:id="rId7"/>
              </a:rPr>
              <a:t>Repo: github.com/Yongwen12/SecondOpinion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556248"/>
            <a:ext cx="11338560" cy="12801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50" b="0" i="0">
                <a:solidFill>
                  <a:srgbClr val="6B7280"/>
                </a:solidFill>
                <a:latin typeface="Aptos"/>
              </a:rPr>
              <a:t>Pilot data: public ICLR 2024 OpenReview sample. RQS = Review Quality Score. Scores are preliminary MVP outputs for calibration, not final ground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