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11155680" cy="3291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11827"/>
                </a:solidFill>
                <a:latin typeface="Microsoft YaHei"/>
              </a:rPr>
              <a:t>SecondOpinion: Evidence-Grounded Review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94360"/>
            <a:ext cx="1097280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Microsoft YaHei"/>
              </a:rPr>
              <a:t>假设 → ICLR pilot evidence → 可追溯架构 → 人机校准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941832"/>
            <a:ext cx="530352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F766E"/>
                </a:solidFill>
                <a:latin typeface="Microsoft YaHei"/>
              </a:rPr>
              <a:t>项目背景：从假设到证据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941832"/>
            <a:ext cx="493776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0F766E"/>
                </a:solidFill>
                <a:latin typeface="Microsoft YaHei"/>
              </a:rPr>
              <a:t>核心架构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307592"/>
            <a:ext cx="54406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5221224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Microsoft YaHei"/>
              </a:rPr>
              <a:t>Signal 1 · Reviewer conflict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5221224" cy="2377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</a:rPr>
              <a:t>同一篇文章下 reviewer 意见矛盾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01952"/>
            <a:ext cx="5221224" cy="347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15C"/>
                </a:solidFill>
                <a:latin typeface="Microsoft YaHei"/>
              </a:rPr>
              <a:t>Microbial GNN paper：一个 reviewer 认为 weak on novelty（rating 3），另一个认为 Novel problem setup and first use of GNN（rating 6）。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487168"/>
            <a:ext cx="54406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78608"/>
            <a:ext cx="5221224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Microsoft YaHei"/>
              </a:rPr>
              <a:t>Signal 2 · Vague / low-actionability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79776"/>
            <a:ext cx="5221224" cy="2377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</a:rPr>
              <a:t>反馈过于泛泛，缺少建设性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81528"/>
            <a:ext cx="5221224" cy="347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15C"/>
                </a:solidFill>
                <a:latin typeface="Microsoft YaHei"/>
              </a:rPr>
              <a:t>GenAI content paper：评价 presentation chaotic、lacks innovation；questions 只写 Please refer to Weaknesses，缺少具体修改目标。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666744"/>
            <a:ext cx="54406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758183"/>
            <a:ext cx="5221224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Microsoft YaHei"/>
              </a:rPr>
              <a:t>Signal 3 · Tone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959352"/>
            <a:ext cx="5221224" cy="2377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Microsoft YaHei"/>
              </a:rPr>
              <a:t>问题可能合理，但表达不够中立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261104"/>
            <a:ext cx="5221224" cy="347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15C"/>
                </a:solidFill>
                <a:latin typeface="Microsoft YaHei"/>
              </a:rPr>
              <a:t>TinyTrain review：出现 I have no idea 和 why bother writing down 等表达；可以改写成更具体、更中立的 clarification request。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07592"/>
            <a:ext cx="507492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389888"/>
            <a:ext cx="4837176" cy="2103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Microsoft YaHei"/>
              </a:rPr>
              <a:t>1. Review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636776"/>
            <a:ext cx="48371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11827"/>
                </a:solidFill>
                <a:latin typeface="Microsoft YaHei"/>
              </a:rPr>
              <a:t>OpenReview review / rating / rebuttal / paper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938528"/>
            <a:ext cx="3200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085"/>
                </a:solidFill>
                <a:latin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074920" cy="57607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249424"/>
            <a:ext cx="4837176" cy="2103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47857"/>
                </a:solidFill>
                <a:latin typeface="Microsoft YaHei"/>
              </a:rPr>
              <a:t>2. Extract Reviewer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496312"/>
            <a:ext cx="48371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11827"/>
                </a:solidFill>
                <a:latin typeface="Microsoft YaHei"/>
              </a:rPr>
              <a:t>LLM extracts criticisms / questions / suggestions with source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798064"/>
            <a:ext cx="3200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085"/>
                </a:solidFill>
                <a:latin typeface="Microsoft YaHe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26664"/>
            <a:ext cx="5074920" cy="576072"/>
          </a:xfrm>
          <a:prstGeom prst="roundRect">
            <a:avLst/>
          </a:prstGeom>
          <a:solidFill>
            <a:srgbClr val="F0F9FF"/>
          </a:solidFill>
          <a:ln w="1016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3108960"/>
            <a:ext cx="4837176" cy="2103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369A1"/>
                </a:solidFill>
                <a:latin typeface="Microsoft YaHei"/>
              </a:rPr>
              <a:t>3. Retrieve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355848"/>
            <a:ext cx="48371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11827"/>
                </a:solidFill>
                <a:latin typeface="Microsoft YaHei"/>
              </a:rPr>
              <a:t>Local section-aware BM25 finds paper / rebuttal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3657600"/>
            <a:ext cx="3200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085"/>
                </a:solidFill>
                <a:latin typeface="Microsoft YaHe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886200"/>
            <a:ext cx="5074920" cy="5760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968496"/>
            <a:ext cx="4837176" cy="2103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</a:rPr>
              <a:t>4. Judge + Reliability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215384"/>
            <a:ext cx="48371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11827"/>
                </a:solidFill>
                <a:latin typeface="Microsoft YaHei"/>
              </a:rPr>
              <a:t>LLM gives stance; local checks verify quotes and downgrade weak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517136"/>
            <a:ext cx="3200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085"/>
                </a:solidFill>
                <a:latin typeface="Microsoft YaHe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45736"/>
            <a:ext cx="5074920" cy="57607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B7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828032"/>
            <a:ext cx="4837176" cy="2103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91C1C"/>
                </a:solidFill>
                <a:latin typeface="Microsoft YaHei"/>
              </a:rPr>
              <a:t>5.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5074920"/>
            <a:ext cx="48371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111827"/>
                </a:solidFill>
                <a:latin typeface="Microsoft YaHei"/>
              </a:rPr>
              <a:t>Review Quality Score · SecondOpinion stance · Rebuttal 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5696712"/>
            <a:ext cx="10963656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5806440"/>
            <a:ext cx="457200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Next step: human–AI calibration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6016752"/>
            <a:ext cx="102412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D1D5DB"/>
                </a:solidFill>
                <a:latin typeface="Microsoft YaHei"/>
              </a:rPr>
              <a:t>让人和 AI 对同一批 reviewer points、evidence relevance、verdict correctness 和 RQS 合理性共同打分，统计误差并校准系统。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437376"/>
            <a:ext cx="6400800" cy="1371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8828C"/>
                </a:solidFill>
                <a:latin typeface="Microsoft YaHei"/>
              </a:rPr>
              <a:t>Pilot sample: ICLR 2024 public OpenReview data, 80 submissions / 279 official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