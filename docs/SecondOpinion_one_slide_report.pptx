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 type="screen16x9"/>
  <p:notesSz cx="6858000" cy="9144000"/>
  <p:defaultTextStyle>
    <a:defPPr>
      <a:defRPr lang="zh-CN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  <Relationship Id="rId4" Type="http://schemas.openxmlformats.org/officeDocument/2006/relationships/presProps" Target="presProps.xml"/>
  <Relationship Id="rId5" Type="http://schemas.openxmlformats.org/officeDocument/2006/relationships/viewProps" Target="viewProps.xml"/>
  <Relationship Id="rId6" Type="http://schemas.openxmlformats.org/officeDocument/2006/relationships/tableStyles" Target="tableStyles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A"/>
          </a:solidFill>
          <a:ln>
            <a:noFill/>
          </a:ln>
        </p:spPr>
        <p:txBody>
          <a:bodyPr wrap="square" anchor="top" lIns="91440" tIns="91440" rIns="91440" bIns="91440"/>
          <a:lstStyle/>
        </p:txBody>
      </p:sp>
      <p:sp>
        <p:nvSpPr>
          <p:cNvPr id="3" name="Title"/>
          <p:cNvSpPr/>
          <p:nvPr/>
        </p:nvSpPr>
        <p:spPr>
          <a:xfrm>
            <a:off x="411480" y="182880"/>
            <a:ext cx="11338560" cy="566928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tIns="91440" rIns="91440" bIns="91440"/>
          <a:lstStyle/>
          <a:p>
            <a:pPr>
              <a:spcAft>
                <a:spcPts val="250"/>
              </a:spcAft>
            </a:pPr>
            <a:r>
              <a:rPr lang="zh-CN" sz="24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SecondOpinion: Evidence-Grounded Review Audit</a:t>
            </a:r>
          </a:p>
          <a:p>
            <a:pPr>
              <a:spcAft>
                <a:spcPts val="250"/>
              </a:spcAft>
            </a:pPr>
            <a:r>
              <a:rPr lang="zh-CN"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? ICLR pilot evidence ????????? review ????? rebuttal ????</a:t>
            </a:r>
          </a:p>
        </p:txBody>
      </p:sp>
      <p:sp>
        <p:nvSpPr>
          <p:cNvPr id="4" name="Title"/>
          <p:cNvSpPr/>
          <p:nvPr/>
        </p:nvSpPr>
        <p:spPr>
          <a:xfrm>
            <a:off x="502920" y="932688"/>
            <a:ext cx="544068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tIns="91440" rIns="91440" bIns="91440"/>
          <a:lstStyle/>
          <a:p>
            <a:pPr>
              <a:spcAft>
                <a:spcPts val="250"/>
              </a:spcAft>
            </a:pPr>
            <a:r>
              <a:rPr lang="zh-CN" sz="13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Project Motivation: Hypothesis ? Pilot Signals</a:t>
            </a:r>
          </a:p>
        </p:txBody>
      </p:sp>
      <p:sp>
        <p:nvSpPr>
          <p:cNvPr id="5" name="????????????"/>
          <p:cNvSpPr/>
          <p:nvPr/>
        </p:nvSpPr>
        <p:spPr>
          <a:xfrm>
            <a:off x="502920" y="1325880"/>
            <a:ext cx="5440680" cy="10058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8DEE4"/>
            </a:solidFill>
          </a:ln>
        </p:spPr>
        <p:txBody>
          <a:bodyPr wrap="square" anchor="top" lIns="91440" tIns="91440" rIns="91440" bIns="91440"/>
          <a:lstStyle/>
          <a:p>
            <a:pPr>
              <a:spcAft>
                <a:spcPts val="250"/>
              </a:spcAft>
            </a:pPr>
            <a:r>
              <a:rPr lang="zh-CN" sz="85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Signal 1 ? Reviewer conflict</a:t>
            </a:r>
          </a:p>
          <a:p>
            <a:pPr>
              <a:spcAft>
                <a:spcPts val="250"/>
              </a:spcAft>
            </a:pPr>
            <a:r>
              <a:rPr lang="zh-CN" sz="1150" b="1">
                <a:solidFill>
                  <a:srgbClr val="172026"/>
                </a:solidFill>
                <a:latin typeface="Microsoft YaHei"/>
                <a:ea typeface="Microsoft YaHei"/>
                <a:cs typeface="Microsoft YaHei"/>
              </a:rPr>
              <a:t>????????????</a:t>
            </a:r>
          </a:p>
          <a:p>
            <a:pPr>
              <a:spcAft>
                <a:spcPts val="250"/>
              </a:spcAft>
            </a:pPr>
            <a:r>
              <a:rPr lang="zh-CN" sz="880">
                <a:solidFill>
                  <a:srgbClr val="44515C"/>
                </a:solidFill>
                <a:latin typeface="Microsoft YaHei"/>
                <a:ea typeface="Microsoft YaHei"/>
                <a:cs typeface="Microsoft YaHei"/>
              </a:rPr>
              <a:t>Microbial GNN paper: one reviewer says ?weak on novelty? (rating 3), another says ?Novel problem setup and the first use of GNN? (rating 6).</a:t>
            </a:r>
          </a:p>
        </p:txBody>
      </p:sp>
      <p:sp>
        <p:nvSpPr>
          <p:cNvPr id="6" name="????????????????"/>
          <p:cNvSpPr/>
          <p:nvPr/>
        </p:nvSpPr>
        <p:spPr>
          <a:xfrm>
            <a:off x="502920" y="2487168"/>
            <a:ext cx="5440680" cy="10058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8DEE4"/>
            </a:solidFill>
          </a:ln>
        </p:spPr>
        <p:txBody>
          <a:bodyPr wrap="square" anchor="top" lIns="91440" tIns="91440" rIns="91440" bIns="91440"/>
          <a:lstStyle/>
          <a:p>
            <a:pPr>
              <a:spcAft>
                <a:spcPts val="250"/>
              </a:spcAft>
            </a:pPr>
            <a:r>
              <a:rPr lang="zh-CN" sz="85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Signal 2 ? Vague / low-actionability</a:t>
            </a:r>
          </a:p>
          <a:p>
            <a:pPr>
              <a:spcAft>
                <a:spcPts val="250"/>
              </a:spcAft>
            </a:pPr>
            <a:r>
              <a:rPr lang="zh-CN" sz="1150" b="1">
                <a:solidFill>
                  <a:srgbClr val="172026"/>
                </a:solidFill>
                <a:latin typeface="Microsoft YaHei"/>
                <a:ea typeface="Microsoft YaHei"/>
                <a:cs typeface="Microsoft YaHei"/>
              </a:rPr>
              <a:t>????????????????</a:t>
            </a:r>
          </a:p>
          <a:p>
            <a:pPr>
              <a:spcAft>
                <a:spcPts val="250"/>
              </a:spcAft>
            </a:pPr>
            <a:r>
              <a:rPr lang="zh-CN" sz="880">
                <a:solidFill>
                  <a:srgbClr val="44515C"/>
                </a:solidFill>
                <a:latin typeface="Microsoft YaHei"/>
                <a:ea typeface="Microsoft YaHei"/>
                <a:cs typeface="Microsoft YaHei"/>
              </a:rPr>
              <a:t>GenAI content paper: ?presentation ... chaotic?, ?lacks innovation?; questions only say ?Please refer to Weaknesses.?</a:t>
            </a:r>
          </a:p>
        </p:txBody>
      </p:sp>
      <p:sp>
        <p:nvSpPr>
          <p:cNvPr id="7" name="??????????????"/>
          <p:cNvSpPr/>
          <p:nvPr/>
        </p:nvSpPr>
        <p:spPr>
          <a:xfrm>
            <a:off x="502920" y="3648456"/>
            <a:ext cx="5440680" cy="1005840"/>
          </a:xfrm>
          <a:prstGeom prst="roundRect">
            <a:avLst/>
          </a:prstGeom>
          <a:solidFill>
            <a:srgbClr val="FFFFFF"/>
          </a:solidFill>
          <a:ln w="11000">
            <a:solidFill>
              <a:srgbClr val="D8DEE4"/>
            </a:solidFill>
          </a:ln>
        </p:spPr>
        <p:txBody>
          <a:bodyPr wrap="square" anchor="top" lIns="91440" tIns="91440" rIns="91440" bIns="91440"/>
          <a:lstStyle/>
          <a:p>
            <a:pPr>
              <a:spcAft>
                <a:spcPts val="250"/>
              </a:spcAft>
            </a:pPr>
            <a:r>
              <a:rPr lang="zh-CN" sz="8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Signal 3 ? Tone risk</a:t>
            </a:r>
          </a:p>
          <a:p>
            <a:pPr>
              <a:spcAft>
                <a:spcPts val="250"/>
              </a:spcAft>
            </a:pPr>
            <a:r>
              <a:rPr lang="zh-CN" sz="1150" b="1">
                <a:solidFill>
                  <a:srgbClr val="172026"/>
                </a:solidFill>
                <a:latin typeface="Microsoft YaHei"/>
                <a:ea typeface="Microsoft YaHei"/>
                <a:cs typeface="Microsoft YaHei"/>
              </a:rPr>
              <a:t>??????????????</a:t>
            </a:r>
          </a:p>
          <a:p>
            <a:pPr>
              <a:spcAft>
                <a:spcPts val="250"/>
              </a:spcAft>
            </a:pPr>
            <a:r>
              <a:rPr lang="zh-CN" sz="880">
                <a:solidFill>
                  <a:srgbClr val="44515C"/>
                </a:solidFill>
                <a:latin typeface="Microsoft YaHei"/>
                <a:ea typeface="Microsoft YaHei"/>
                <a:cs typeface="Microsoft YaHei"/>
              </a:rPr>
              <a:t>TinyTrain review: uses ?I have no idea...? and ?why bother writing down...?; could be rewritten as concrete clarification requests.</a:t>
            </a:r>
          </a:p>
        </p:txBody>
      </p:sp>
      <p:sp>
        <p:nvSpPr>
          <p:cNvPr id="8" name="Title"/>
          <p:cNvSpPr/>
          <p:nvPr/>
        </p:nvSpPr>
        <p:spPr>
          <a:xfrm>
            <a:off x="6291072" y="932688"/>
            <a:ext cx="5349240" cy="310896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tIns="91440" rIns="91440" bIns="91440"/>
          <a:lstStyle/>
          <a:p>
            <a:pPr>
              <a:spcAft>
                <a:spcPts val="250"/>
              </a:spcAft>
            </a:pPr>
            <a:r>
              <a:rPr lang="zh-CN" sz="130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Core Architecture</a:t>
            </a:r>
          </a:p>
        </p:txBody>
      </p:sp>
      <p:sp>
        <p:nvSpPr>
          <p:cNvPr id="9" name="1. Review Input"/>
          <p:cNvSpPr/>
          <p:nvPr/>
        </p:nvSpPr>
        <p:spPr>
          <a:xfrm>
            <a:off x="6419088" y="1325880"/>
            <a:ext cx="5074920" cy="566928"/>
          </a:xfrm>
          <a:prstGeom prst="roundRect">
            <a:avLst/>
          </a:prstGeom>
          <a:solidFill>
            <a:srgbClr val="FFFFFF"/>
          </a:solidFill>
          <a:ln w="10000">
            <a:solidFill>
              <a:srgbClr val="B7E4D8"/>
            </a:solidFill>
          </a:ln>
        </p:spPr>
        <p:txBody>
          <a:bodyPr wrap="square" anchor="top" lIns="91440" tIns="91440" rIns="91440" bIns="91440"/>
          <a:lstStyle/>
          <a:p>
            <a:pPr>
              <a:spcAft>
                <a:spcPts val="250"/>
              </a:spcAft>
            </a:pPr>
            <a:r>
              <a:rPr lang="zh-CN" sz="1120" b="1">
                <a:solidFill>
                  <a:srgbClr val="0F766E"/>
                </a:solidFill>
                <a:latin typeface="Microsoft YaHei"/>
                <a:ea typeface="Microsoft YaHei"/>
                <a:cs typeface="Microsoft YaHei"/>
              </a:rPr>
              <a:t>1. Review Input</a:t>
            </a:r>
          </a:p>
          <a:p>
            <a:pPr>
              <a:spcAft>
                <a:spcPts val="250"/>
              </a:spcAft>
            </a:pPr>
            <a:r>
              <a:rPr lang="zh-CN" sz="830">
                <a:solidFill>
                  <a:srgbClr val="44515C"/>
                </a:solidFill>
                <a:latin typeface="Microsoft YaHei"/>
                <a:ea typeface="Microsoft YaHei"/>
                <a:cs typeface="Microsoft YaHei"/>
              </a:rPr>
              <a:t>OpenReview review + rating + rebuttal + paper PDF</a:t>
            </a:r>
          </a:p>
        </p:txBody>
      </p:sp>
      <p:sp>
        <p:nvSpPr>
          <p:cNvPr id="10" name="Title"/>
          <p:cNvSpPr/>
          <p:nvPr/>
        </p:nvSpPr>
        <p:spPr>
          <a:xfrm>
            <a:off x="8732520" y="1938528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tIns="91440" rIns="91440" bIns="91440"/>
          <a:lstStyle/>
          <a:p>
            <a:pPr>
              <a:spcAft>
                <a:spcPts val="250"/>
              </a:spcAft>
            </a:pPr>
            <a:r>
              <a:rPr lang="zh-CN" sz="13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?</a:t>
            </a:r>
          </a:p>
        </p:txBody>
      </p:sp>
      <p:sp>
        <p:nvSpPr>
          <p:cNvPr id="11" name="2. Extract Reviewer Points"/>
          <p:cNvSpPr/>
          <p:nvPr/>
        </p:nvSpPr>
        <p:spPr>
          <a:xfrm>
            <a:off x="6419088" y="2167128"/>
            <a:ext cx="5074920" cy="566928"/>
          </a:xfrm>
          <a:prstGeom prst="roundRect">
            <a:avLst/>
          </a:prstGeom>
          <a:solidFill>
            <a:srgbClr val="ECFDF5"/>
          </a:solidFill>
          <a:ln w="10000">
            <a:solidFill>
              <a:srgbClr val="B7E4D8"/>
            </a:solidFill>
          </a:ln>
        </p:spPr>
        <p:txBody>
          <a:bodyPr wrap="square" anchor="top" lIns="91440" tIns="91440" rIns="91440" bIns="91440"/>
          <a:lstStyle/>
          <a:p>
            <a:pPr>
              <a:spcAft>
                <a:spcPts val="250"/>
              </a:spcAft>
            </a:pPr>
            <a:r>
              <a:rPr lang="zh-CN" sz="1120" b="1">
                <a:solidFill>
                  <a:srgbClr val="047857"/>
                </a:solidFill>
                <a:latin typeface="Microsoft YaHei"/>
                <a:ea typeface="Microsoft YaHei"/>
                <a:cs typeface="Microsoft YaHei"/>
              </a:rPr>
              <a:t>2. Extract Reviewer Points</a:t>
            </a:r>
          </a:p>
          <a:p>
            <a:pPr>
              <a:spcAft>
                <a:spcPts val="250"/>
              </a:spcAft>
            </a:pPr>
            <a:r>
              <a:rPr lang="zh-CN" sz="830">
                <a:solidFill>
                  <a:srgbClr val="44515C"/>
                </a:solidFill>
                <a:latin typeface="Microsoft YaHei"/>
                <a:ea typeface="Microsoft YaHei"/>
                <a:cs typeface="Microsoft YaHei"/>
              </a:rPr>
              <a:t>LLM extracts criticisms / questions / suggestions with source sentence</a:t>
            </a:r>
          </a:p>
        </p:txBody>
      </p:sp>
      <p:sp>
        <p:nvSpPr>
          <p:cNvPr id="12" name="Title"/>
          <p:cNvSpPr/>
          <p:nvPr/>
        </p:nvSpPr>
        <p:spPr>
          <a:xfrm>
            <a:off x="8732520" y="2779776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tIns="91440" rIns="91440" bIns="91440"/>
          <a:lstStyle/>
          <a:p>
            <a:pPr>
              <a:spcAft>
                <a:spcPts val="250"/>
              </a:spcAft>
            </a:pPr>
            <a:r>
              <a:rPr lang="zh-CN" sz="13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?</a:t>
            </a:r>
          </a:p>
        </p:txBody>
      </p:sp>
      <p:sp>
        <p:nvSpPr>
          <p:cNvPr id="13" name="3. Retrieve Evidence"/>
          <p:cNvSpPr/>
          <p:nvPr/>
        </p:nvSpPr>
        <p:spPr>
          <a:xfrm>
            <a:off x="6419088" y="3008376"/>
            <a:ext cx="5074920" cy="566928"/>
          </a:xfrm>
          <a:prstGeom prst="roundRect">
            <a:avLst/>
          </a:prstGeom>
          <a:solidFill>
            <a:srgbClr val="F0F9FF"/>
          </a:solidFill>
          <a:ln w="10000">
            <a:solidFill>
              <a:srgbClr val="B7E4D8"/>
            </a:solidFill>
          </a:ln>
        </p:spPr>
        <p:txBody>
          <a:bodyPr wrap="square" anchor="top" lIns="91440" tIns="91440" rIns="91440" bIns="91440"/>
          <a:lstStyle/>
          <a:p>
            <a:pPr>
              <a:spcAft>
                <a:spcPts val="250"/>
              </a:spcAft>
            </a:pPr>
            <a:r>
              <a:rPr lang="zh-CN" sz="1120" b="1">
                <a:solidFill>
                  <a:srgbClr val="0369A1"/>
                </a:solidFill>
                <a:latin typeface="Microsoft YaHei"/>
                <a:ea typeface="Microsoft YaHei"/>
                <a:cs typeface="Microsoft YaHei"/>
              </a:rPr>
              <a:t>3. Retrieve Evidence</a:t>
            </a:r>
          </a:p>
          <a:p>
            <a:pPr>
              <a:spcAft>
                <a:spcPts val="250"/>
              </a:spcAft>
            </a:pPr>
            <a:r>
              <a:rPr lang="zh-CN" sz="830">
                <a:solidFill>
                  <a:srgbClr val="44515C"/>
                </a:solidFill>
                <a:latin typeface="Microsoft YaHei"/>
                <a:ea typeface="Microsoft YaHei"/>
                <a:cs typeface="Microsoft YaHei"/>
              </a:rPr>
              <a:t>Local section-aware BM25 finds paper / rebuttal evidence</a:t>
            </a:r>
          </a:p>
        </p:txBody>
      </p:sp>
      <p:sp>
        <p:nvSpPr>
          <p:cNvPr id="14" name="Title"/>
          <p:cNvSpPr/>
          <p:nvPr/>
        </p:nvSpPr>
        <p:spPr>
          <a:xfrm>
            <a:off x="8732520" y="3621024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tIns="91440" rIns="91440" bIns="91440"/>
          <a:lstStyle/>
          <a:p>
            <a:pPr>
              <a:spcAft>
                <a:spcPts val="250"/>
              </a:spcAft>
            </a:pPr>
            <a:r>
              <a:rPr lang="zh-CN" sz="13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?</a:t>
            </a:r>
          </a:p>
        </p:txBody>
      </p:sp>
      <p:sp>
        <p:nvSpPr>
          <p:cNvPr id="15" name="4. Judge + Reliability Gate"/>
          <p:cNvSpPr/>
          <p:nvPr/>
        </p:nvSpPr>
        <p:spPr>
          <a:xfrm>
            <a:off x="6419088" y="3849624"/>
            <a:ext cx="5074920" cy="566928"/>
          </a:xfrm>
          <a:prstGeom prst="roundRect">
            <a:avLst/>
          </a:prstGeom>
          <a:solidFill>
            <a:srgbClr val="FFF7ED"/>
          </a:solidFill>
          <a:ln w="10000">
            <a:solidFill>
              <a:srgbClr val="B7E4D8"/>
            </a:solidFill>
          </a:ln>
        </p:spPr>
        <p:txBody>
          <a:bodyPr wrap="square" anchor="top" lIns="91440" tIns="91440" rIns="91440" bIns="91440"/>
          <a:lstStyle/>
          <a:p>
            <a:pPr>
              <a:spcAft>
                <a:spcPts val="250"/>
              </a:spcAft>
            </a:pPr>
            <a:r>
              <a:rPr lang="zh-CN" sz="112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4. Judge + Reliability Gate</a:t>
            </a:r>
          </a:p>
          <a:p>
            <a:pPr>
              <a:spcAft>
                <a:spcPts val="250"/>
              </a:spcAft>
            </a:pPr>
            <a:r>
              <a:rPr lang="zh-CN" sz="830">
                <a:solidFill>
                  <a:srgbClr val="44515C"/>
                </a:solidFill>
                <a:latin typeface="Microsoft YaHei"/>
                <a:ea typeface="Microsoft YaHei"/>
                <a:cs typeface="Microsoft YaHei"/>
              </a:rPr>
              <a:t>LLM gives stance; local checks verify quotes and downgrade weak confidence</a:t>
            </a:r>
          </a:p>
        </p:txBody>
      </p:sp>
      <p:sp>
        <p:nvSpPr>
          <p:cNvPr id="16" name="Title"/>
          <p:cNvSpPr/>
          <p:nvPr/>
        </p:nvSpPr>
        <p:spPr>
          <a:xfrm>
            <a:off x="8732520" y="4462272"/>
            <a:ext cx="320040" cy="182880"/>
          </a:xfrm>
          <a:prstGeom prst="rect">
            <a:avLst/>
          </a:prstGeom>
          <a:noFill/>
          <a:ln>
            <a:noFill/>
          </a:ln>
        </p:spPr>
        <p:txBody>
          <a:bodyPr wrap="square" anchor="top" lIns="91440" tIns="91440" rIns="91440" bIns="91440"/>
          <a:lstStyle/>
          <a:p>
            <a:pPr>
              <a:spcAft>
                <a:spcPts val="250"/>
              </a:spcAft>
            </a:pPr>
            <a:r>
              <a:rPr lang="zh-CN" sz="1300" b="1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?</a:t>
            </a:r>
          </a:p>
        </p:txBody>
      </p:sp>
      <p:sp>
        <p:nvSpPr>
          <p:cNvPr id="17" name="5. Output"/>
          <p:cNvSpPr/>
          <p:nvPr/>
        </p:nvSpPr>
        <p:spPr>
          <a:xfrm>
            <a:off x="6419088" y="4690872"/>
            <a:ext cx="5074920" cy="566928"/>
          </a:xfrm>
          <a:prstGeom prst="roundRect">
            <a:avLst/>
          </a:prstGeom>
          <a:solidFill>
            <a:srgbClr val="FEF2F2"/>
          </a:solidFill>
          <a:ln w="10000">
            <a:solidFill>
              <a:srgbClr val="B7E4D8"/>
            </a:solidFill>
          </a:ln>
        </p:spPr>
        <p:txBody>
          <a:bodyPr wrap="square" anchor="top" lIns="91440" tIns="91440" rIns="91440" bIns="91440"/>
          <a:lstStyle/>
          <a:p>
            <a:pPr>
              <a:spcAft>
                <a:spcPts val="250"/>
              </a:spcAft>
            </a:pPr>
            <a:r>
              <a:rPr lang="zh-CN" sz="112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5. Output</a:t>
            </a:r>
          </a:p>
          <a:p>
            <a:pPr>
              <a:spcAft>
                <a:spcPts val="250"/>
              </a:spcAft>
            </a:pPr>
            <a:r>
              <a:rPr lang="zh-CN" sz="830">
                <a:solidFill>
                  <a:srgbClr val="44515C"/>
                </a:solidFill>
                <a:latin typeface="Microsoft YaHei"/>
                <a:ea typeface="Microsoft YaHei"/>
                <a:cs typeface="Microsoft YaHei"/>
              </a:rPr>
              <a:t>Review Quality Score ? SecondOpinion stance ? Rebuttal guidance</a:t>
            </a:r>
          </a:p>
        </p:txBody>
      </p:sp>
      <p:sp>
        <p:nvSpPr>
          <p:cNvPr id="18" name="Next"/>
          <p:cNvSpPr/>
          <p:nvPr/>
        </p:nvSpPr>
        <p:spPr>
          <a:xfrm>
            <a:off x="502920" y="5669280"/>
            <a:ext cx="10991088" cy="566928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txBody>
          <a:bodyPr wrap="square" anchor="top" lIns="91440" tIns="91440" rIns="91440" bIns="91440"/>
          <a:lstStyle/>
          <a:p>
            <a:pPr>
              <a:spcAft>
                <a:spcPts val="250"/>
              </a:spcAft>
            </a:pPr>
            <a:r>
              <a:rPr lang="zh-CN"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Next step: human?AI calibration</a:t>
            </a:r>
          </a:p>
          <a:p>
            <a:pPr>
              <a:spcAft>
                <a:spcPts val="250"/>
              </a:spcAft>
            </a:pPr>
            <a:r>
              <a:rPr lang="zh-CN" sz="919">
                <a:solidFill>
                  <a:srgbClr val="D1D5DB"/>
                </a:solidFill>
                <a:latin typeface="Microsoft YaHei"/>
                <a:ea typeface="Microsoft YaHei"/>
                <a:cs typeface="Microsoft YaHei"/>
              </a:rPr>
              <a:t>??? AI ???? reviewer points?evidence relevance?verdict correctness ? RQS ??????????????????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ondOpinion Theme">
  <a:themeElements>
    <a:clrScheme name="SecondOpinion">
      <a:dk1>
        <a:srgbClr val="111827"/>
      </a:dk1>
      <a:lt1>
        <a:srgbClr val="FFFFFF"/>
      </a:lt1>
      <a:dk2>
        <a:srgbClr val="172026"/>
      </a:dk2>
      <a:lt2>
        <a:srgbClr val="F7F8FA"/>
      </a:lt2>
      <a:accent1>
        <a:srgbClr val="0F766E"/>
      </a:accent1>
      <a:accent2>
        <a:srgbClr val="0369A1"/>
      </a:accent2>
      <a:accent3>
        <a:srgbClr val="B45309"/>
      </a:accent3>
      <a:accent4>
        <a:srgbClr val="B91C1C"/>
      </a:accent4>
      <a:accent5>
        <a:srgbClr val="667085"/>
      </a:accent5>
      <a:accent6>
        <a:srgbClr val="44515C"/>
      </a:accent6>
      <a:hlink>
        <a:srgbClr val="0369A1"/>
      </a:hlink>
      <a:folHlink>
        <a:srgbClr val="7C3AED"/>
      </a:folHlink>
    </a:clrScheme>
    <a:fontScheme name="YaHei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Default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PowerPoint</Application>
  <PresentationFormat>On-screen Show (16:9)</PresentationFormat>
  <Slides>1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SecondOpinion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SecondOpinion One-Slide Report</dc:title>
  <dc:creator>Codex</dc:creator>
  <cp:lastModifiedBy>Codex</cp:lastModifiedBy>
  <dcterms:created xsi:type="dcterms:W3CDTF">2026-05-22T09:52:32+00:00</dcterms:created>
  <dcterms:modified xsi:type="dcterms:W3CDTF">2026-05-22T09:52:32+00:00</dcterms:modified>
</cp:coreProperties>
</file>