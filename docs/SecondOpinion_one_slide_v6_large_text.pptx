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review.net/forum?id=cXs5md5wAq" TargetMode="External"/><Relationship Id="rId3" Type="http://schemas.openxmlformats.org/officeDocument/2006/relationships/hyperlink" Target="https://openreview.net/forum?id=eR4W9tnJoZ" TargetMode="External"/><Relationship Id="rId4" Type="http://schemas.openxmlformats.org/officeDocument/2006/relationships/hyperlink" Target="https://openreview.net/forum?id=xNdE7RiRyP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file:///C:/Users/Administrator/Desktop/SecondOpinion/reports/mvp_demo_three_papers.html" TargetMode="External"/><Relationship Id="rId8" Type="http://schemas.openxmlformats.org/officeDocument/2006/relationships/hyperlink" Target="https://github.com/Yongwen12/SecondOpinio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18872"/>
            <a:ext cx="11612880" cy="329184"/>
          </a:xfrm>
          <a:prstGeom prst="rect">
            <a:avLst/>
          </a:prstGeom>
          <a:noFill/>
        </p:spPr>
        <p:txBody>
          <a:bodyPr wrap="none" lIns="64008" rIns="64008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Aptos"/>
              </a:rPr>
              <a:t>SecondOpinion: Review Audit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484632"/>
            <a:ext cx="11430000" cy="164592"/>
          </a:xfrm>
          <a:prstGeom prst="rect">
            <a:avLst/>
          </a:prstGeom>
          <a:noFill/>
        </p:spPr>
        <p:txBody>
          <a:bodyPr wrap="none" lIns="64008" rIns="64008" anchor="t">
            <a:spAutoFit/>
          </a:bodyPr>
          <a:lstStyle/>
          <a:p>
            <a:pPr algn="l"/>
            <a:r>
              <a:rPr sz="1050" b="0" i="0">
                <a:solidFill>
                  <a:srgbClr val="5B6670"/>
                </a:solidFill>
                <a:latin typeface="Aptos"/>
              </a:rPr>
              <a:t>Pilot evidence → evidence-grounded audit architecture → current scoring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" y="786384"/>
            <a:ext cx="3794760" cy="5623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60520" y="786384"/>
            <a:ext cx="3886200" cy="5623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11312" y="786384"/>
            <a:ext cx="3767328" cy="5623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32688"/>
            <a:ext cx="3429000" cy="256032"/>
          </a:xfrm>
          <a:prstGeom prst="rect">
            <a:avLst/>
          </a:prstGeom>
          <a:noFill/>
        </p:spPr>
        <p:txBody>
          <a:bodyPr wrap="none" lIns="64008" rIns="64008" anchor="t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Aptos"/>
              </a:rPr>
              <a:t>1. Pilot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25296"/>
            <a:ext cx="3383280" cy="164592"/>
          </a:xfrm>
          <a:prstGeom prst="rect">
            <a:avLst/>
          </a:prstGeom>
          <a:noFill/>
        </p:spPr>
        <p:txBody>
          <a:bodyPr wrap="none" lIns="64008" rIns="64008" anchor="t">
            <a:spAutoFit/>
          </a:bodyPr>
          <a:lstStyle/>
          <a:p>
            <a:pPr algn="l"/>
            <a:r>
              <a:rPr sz="850" b="0" i="0">
                <a:solidFill>
                  <a:srgbClr val="5B6670"/>
                </a:solidFill>
                <a:latin typeface="Aptos"/>
              </a:rPr>
              <a:t>Public ICLR 2024 examples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517904"/>
            <a:ext cx="3429000" cy="1325880"/>
          </a:xfrm>
          <a:prstGeom prst="roundRect">
            <a:avLst/>
          </a:prstGeom>
          <a:solidFill>
            <a:srgbClr val="F0FDFA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64008" rIns="64008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0F766E"/>
                </a:solidFill>
                <a:latin typeface="Aptos"/>
              </a:rPr>
              <a:t>Reviewer conflict</a:t>
            </a:r>
          </a:p>
          <a:p>
            <a:pPr>
              <a:spcAft>
                <a:spcPts val="150"/>
              </a:spcAft>
            </a:pPr>
            <a:r>
              <a:rPr sz="800" b="1" i="0">
                <a:solidFill>
                  <a:srgbClr val="0F766E"/>
                </a:solidFill>
                <a:latin typeface="Aptos"/>
              </a:rPr>
              <a:t>Ex.1 A: </a:t>
            </a:r>
            <a:r>
              <a:rPr sz="780" b="0" i="1">
                <a:solidFill>
                  <a:srgbClr val="111827"/>
                </a:solidFill>
                <a:latin typeface="Aptos"/>
              </a:rPr>
              <a:t>"weak on novelty"</a:t>
            </a:r>
            <a:r>
              <a:rPr sz="630" b="0" i="0">
                <a:solidFill>
                  <a:srgbClr val="5B6670"/>
                </a:solidFill>
                <a:latin typeface="Aptos"/>
              </a:rPr>
              <a:t>  (cXs5md5wAq)</a:t>
            </a:r>
          </a:p>
          <a:p>
            <a:pPr>
              <a:spcAft>
                <a:spcPts val="150"/>
              </a:spcAft>
            </a:pPr>
            <a:r>
              <a:rPr sz="800" b="1" i="0">
                <a:solidFill>
                  <a:srgbClr val="0F766E"/>
                </a:solidFill>
                <a:latin typeface="Aptos"/>
              </a:rPr>
              <a:t>Ex.1 B: </a:t>
            </a:r>
            <a:r>
              <a:rPr sz="780" b="0" i="1">
                <a:solidFill>
                  <a:srgbClr val="111827"/>
                </a:solidFill>
                <a:latin typeface="Aptos"/>
              </a:rPr>
              <a:t>"first use of GNN"</a:t>
            </a:r>
            <a:r>
              <a:rPr sz="630" b="0" i="0">
                <a:solidFill>
                  <a:srgbClr val="5B6670"/>
                </a:solidFill>
                <a:latin typeface="Aptos"/>
              </a:rPr>
              <a:t>  (cXs5md5wAq)</a:t>
            </a:r>
          </a:p>
          <a:p>
            <a:pPr>
              <a:spcAft>
                <a:spcPts val="150"/>
              </a:spcAft>
            </a:pPr>
            <a:r>
              <a:rPr sz="800" b="1" i="0">
                <a:solidFill>
                  <a:srgbClr val="0F766E"/>
                </a:solidFill>
                <a:latin typeface="Aptos"/>
              </a:rPr>
              <a:t>Ex.2 A: </a:t>
            </a:r>
            <a:r>
              <a:rPr sz="780" b="0" i="1">
                <a:solidFill>
                  <a:srgbClr val="111827"/>
                </a:solidFill>
                <a:latin typeface="Aptos"/>
              </a:rPr>
              <a:t>"significant advance"</a:t>
            </a:r>
            <a:r>
              <a:rPr sz="630" b="0" i="0">
                <a:solidFill>
                  <a:srgbClr val="5B6670"/>
                </a:solidFill>
                <a:latin typeface="Aptos"/>
              </a:rPr>
              <a:t>  (rhgIgTSSxW)</a:t>
            </a:r>
          </a:p>
          <a:p>
            <a:pPr>
              <a:spcAft>
                <a:spcPts val="150"/>
              </a:spcAft>
            </a:pPr>
            <a:r>
              <a:rPr sz="800" b="1" i="0">
                <a:solidFill>
                  <a:srgbClr val="0F766E"/>
                </a:solidFill>
                <a:latin typeface="Aptos"/>
              </a:rPr>
              <a:t>Ex.2 B: </a:t>
            </a:r>
            <a:r>
              <a:rPr sz="780" b="0" i="1">
                <a:solidFill>
                  <a:srgbClr val="111827"/>
                </a:solidFill>
                <a:latin typeface="Aptos"/>
              </a:rPr>
              <a:t>"module designs unclear"</a:t>
            </a:r>
            <a:r>
              <a:rPr sz="630" b="0" i="0">
                <a:solidFill>
                  <a:srgbClr val="5B6670"/>
                </a:solidFill>
                <a:latin typeface="Aptos"/>
              </a:rPr>
              <a:t>  (rhgIgTSSxW)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670048"/>
            <a:ext cx="2926080" cy="91440"/>
          </a:xfrm>
          <a:prstGeom prst="rect">
            <a:avLst/>
          </a:prstGeom>
          <a:noFill/>
        </p:spPr>
        <p:txBody>
          <a:bodyPr wrap="none" lIns="64008" rIns="64008" anchor="t">
            <a:spAutoFit/>
          </a:bodyPr>
          <a:lstStyle/>
          <a:p>
            <a:pPr algn="l"/>
            <a:r>
              <a:rPr sz="650" b="0" i="0">
                <a:solidFill>
                  <a:srgbClr val="0369A1"/>
                </a:solidFill>
                <a:latin typeface="Aptos"/>
                <a:hlinkClick r:id="rId2"/>
              </a:rPr>
              <a:t>links: cXs5md5wAq, rhgIgTSSxW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044952"/>
            <a:ext cx="3429000" cy="114300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64008" rIns="64008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B45309"/>
                </a:solidFill>
                <a:latin typeface="Aptos"/>
              </a:rPr>
              <a:t>Vague / low-actionability</a:t>
            </a:r>
          </a:p>
          <a:p>
            <a:pPr>
              <a:spcAft>
                <a:spcPts val="150"/>
              </a:spcAft>
            </a:pPr>
            <a:r>
              <a:rPr sz="800" b="1" i="0">
                <a:solidFill>
                  <a:srgbClr val="B45309"/>
                </a:solidFill>
                <a:latin typeface="Aptos"/>
              </a:rPr>
              <a:t>V1: </a:t>
            </a:r>
            <a:r>
              <a:rPr sz="780" b="0" i="1">
                <a:solidFill>
                  <a:srgbClr val="111827"/>
                </a:solidFill>
                <a:latin typeface="Aptos"/>
              </a:rPr>
              <a:t>"presentation is chaotic"</a:t>
            </a:r>
            <a:r>
              <a:rPr sz="630" b="0" i="0">
                <a:solidFill>
                  <a:srgbClr val="5B6670"/>
                </a:solidFill>
                <a:latin typeface="Aptos"/>
              </a:rPr>
              <a:t>  (eR4W9tnJoZ)</a:t>
            </a:r>
          </a:p>
          <a:p>
            <a:pPr>
              <a:spcAft>
                <a:spcPts val="150"/>
              </a:spcAft>
            </a:pPr>
            <a:r>
              <a:rPr sz="800" b="1" i="0">
                <a:solidFill>
                  <a:srgbClr val="B45309"/>
                </a:solidFill>
                <a:latin typeface="Aptos"/>
              </a:rPr>
              <a:t>V2: </a:t>
            </a:r>
            <a:r>
              <a:rPr sz="780" b="0" i="1">
                <a:solidFill>
                  <a:srgbClr val="111827"/>
                </a:solidFill>
                <a:latin typeface="Aptos"/>
              </a:rPr>
              <a:t>"Please refer to Weaknesses"</a:t>
            </a:r>
            <a:r>
              <a:rPr sz="630" b="0" i="0">
                <a:solidFill>
                  <a:srgbClr val="5B6670"/>
                </a:solidFill>
                <a:latin typeface="Aptos"/>
              </a:rPr>
              <a:t>  (eR4W9tnJoZ)</a:t>
            </a:r>
          </a:p>
          <a:p>
            <a:pPr>
              <a:spcAft>
                <a:spcPts val="150"/>
              </a:spcAft>
            </a:pPr>
            <a:r>
              <a:rPr sz="800" b="1" i="0">
                <a:solidFill>
                  <a:srgbClr val="B45309"/>
                </a:solidFill>
                <a:latin typeface="Aptos"/>
              </a:rPr>
              <a:t>V3: </a:t>
            </a:r>
            <a:r>
              <a:rPr sz="780" b="0" i="1">
                <a:solidFill>
                  <a:srgbClr val="111827"/>
                </a:solidFill>
                <a:latin typeface="Aptos"/>
              </a:rPr>
              <a:t>"too simple"</a:t>
            </a:r>
            <a:r>
              <a:rPr sz="630" b="0" i="0">
                <a:solidFill>
                  <a:srgbClr val="5B6670"/>
                </a:solidFill>
                <a:latin typeface="Aptos"/>
              </a:rPr>
              <a:t>  (eR4W9tnJoZ)</a:t>
            </a:r>
          </a:p>
          <a:p>
            <a:pPr>
              <a:spcAft>
                <a:spcPts val="150"/>
              </a:spcAft>
            </a:pPr>
            <a:r>
              <a:rPr sz="800" b="1" i="0">
                <a:solidFill>
                  <a:srgbClr val="B45309"/>
                </a:solidFill>
                <a:latin typeface="Aptos"/>
              </a:rPr>
              <a:t>V4: </a:t>
            </a:r>
            <a:r>
              <a:rPr sz="780" b="0" i="1">
                <a:solidFill>
                  <a:srgbClr val="111827"/>
                </a:solidFill>
                <a:latin typeface="Aptos"/>
              </a:rPr>
              <a:t>"no new algorithm, but a trick"</a:t>
            </a:r>
            <a:r>
              <a:rPr sz="630" b="0" i="0">
                <a:solidFill>
                  <a:srgbClr val="5B6670"/>
                </a:solidFill>
                <a:latin typeface="Aptos"/>
              </a:rPr>
              <a:t>  (B0wJ5oCPdB)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4023360"/>
            <a:ext cx="2926080" cy="91440"/>
          </a:xfrm>
          <a:prstGeom prst="rect">
            <a:avLst/>
          </a:prstGeom>
          <a:noFill/>
        </p:spPr>
        <p:txBody>
          <a:bodyPr wrap="none" lIns="64008" rIns="64008" anchor="t">
            <a:spAutoFit/>
          </a:bodyPr>
          <a:lstStyle/>
          <a:p>
            <a:pPr algn="l"/>
            <a:r>
              <a:rPr sz="650" b="0" i="0">
                <a:solidFill>
                  <a:srgbClr val="0369A1"/>
                </a:solidFill>
                <a:latin typeface="Aptos"/>
                <a:hlinkClick r:id="rId3"/>
              </a:rPr>
              <a:t>links: eR4W9tnJoZ, B0wJ5oCPdB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389120"/>
            <a:ext cx="3429000" cy="1143000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64008" rIns="64008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B91C1C"/>
                </a:solidFill>
                <a:latin typeface="Aptos"/>
              </a:rPr>
              <a:t>Tone risk</a:t>
            </a:r>
          </a:p>
          <a:p>
            <a:pPr>
              <a:spcAft>
                <a:spcPts val="150"/>
              </a:spcAft>
            </a:pPr>
            <a:r>
              <a:rPr sz="800" b="1" i="0">
                <a:solidFill>
                  <a:srgbClr val="B91C1C"/>
                </a:solidFill>
                <a:latin typeface="Aptos"/>
              </a:rPr>
              <a:t>T1: </a:t>
            </a:r>
            <a:r>
              <a:rPr sz="780" b="0" i="1">
                <a:solidFill>
                  <a:srgbClr val="111827"/>
                </a:solidFill>
                <a:latin typeface="Aptos"/>
              </a:rPr>
              <a:t>"I have no idea / why bother"</a:t>
            </a:r>
            <a:r>
              <a:rPr sz="630" b="0" i="0">
                <a:solidFill>
                  <a:srgbClr val="5B6670"/>
                </a:solidFill>
                <a:latin typeface="Aptos"/>
              </a:rPr>
              <a:t>  (xNdE7RiRyP)</a:t>
            </a:r>
          </a:p>
          <a:p>
            <a:pPr>
              <a:spcAft>
                <a:spcPts val="150"/>
              </a:spcAft>
            </a:pPr>
            <a:r>
              <a:rPr sz="800" b="1" i="0">
                <a:solidFill>
                  <a:srgbClr val="B91C1C"/>
                </a:solidFill>
                <a:latin typeface="Aptos"/>
              </a:rPr>
              <a:t>T2: </a:t>
            </a:r>
            <a:r>
              <a:rPr sz="780" b="0" i="1">
                <a:solidFill>
                  <a:srgbClr val="111827"/>
                </a:solidFill>
                <a:latin typeface="Aptos"/>
              </a:rPr>
              <a:t>"fatal flaws"</a:t>
            </a:r>
            <a:r>
              <a:rPr sz="630" b="0" i="0">
                <a:solidFill>
                  <a:srgbClr val="5B6670"/>
                </a:solidFill>
                <a:latin typeface="Aptos"/>
              </a:rPr>
              <a:t>  (fI6TkT050a)</a:t>
            </a:r>
          </a:p>
          <a:p>
            <a:pPr>
              <a:spcAft>
                <a:spcPts val="150"/>
              </a:spcAft>
            </a:pPr>
            <a:r>
              <a:rPr sz="800" b="1" i="0">
                <a:solidFill>
                  <a:srgbClr val="B91C1C"/>
                </a:solidFill>
                <a:latin typeface="Aptos"/>
              </a:rPr>
              <a:t>T3: </a:t>
            </a:r>
            <a:r>
              <a:rPr sz="780" b="0" i="1">
                <a:solidFill>
                  <a:srgbClr val="111827"/>
                </a:solidFill>
                <a:latin typeface="Aptos"/>
              </a:rPr>
              <a:t>"deeply flawed"</a:t>
            </a:r>
            <a:r>
              <a:rPr sz="630" b="0" i="0">
                <a:solidFill>
                  <a:srgbClr val="5B6670"/>
                </a:solidFill>
                <a:latin typeface="Aptos"/>
              </a:rPr>
              <a:t>  (fI6TkT050a)</a:t>
            </a:r>
          </a:p>
          <a:p>
            <a:pPr>
              <a:spcAft>
                <a:spcPts val="150"/>
              </a:spcAft>
            </a:pPr>
            <a:r>
              <a:rPr sz="800" b="1" i="0">
                <a:solidFill>
                  <a:srgbClr val="B91C1C"/>
                </a:solidFill>
                <a:latin typeface="Aptos"/>
              </a:rPr>
              <a:t>T4: </a:t>
            </a:r>
            <a:r>
              <a:rPr sz="780" b="0" i="1">
                <a:solidFill>
                  <a:srgbClr val="111827"/>
                </a:solidFill>
                <a:latin typeface="Aptos"/>
              </a:rPr>
              <a:t>"authors appear to be confused"</a:t>
            </a:r>
            <a:r>
              <a:rPr sz="630" b="0" i="0">
                <a:solidFill>
                  <a:srgbClr val="5B6670"/>
                </a:solidFill>
                <a:latin typeface="Aptos"/>
              </a:rPr>
              <a:t>  (cXs5md5wAq)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5367528"/>
            <a:ext cx="2926080" cy="91440"/>
          </a:xfrm>
          <a:prstGeom prst="rect">
            <a:avLst/>
          </a:prstGeom>
          <a:noFill/>
        </p:spPr>
        <p:txBody>
          <a:bodyPr wrap="none" lIns="64008" rIns="64008" anchor="t">
            <a:spAutoFit/>
          </a:bodyPr>
          <a:lstStyle/>
          <a:p>
            <a:pPr algn="l"/>
            <a:r>
              <a:rPr sz="650" b="0" i="0">
                <a:solidFill>
                  <a:srgbClr val="0369A1"/>
                </a:solidFill>
                <a:latin typeface="Aptos"/>
                <a:hlinkClick r:id="rId4"/>
              </a:rPr>
              <a:t>links: xNdE7RiRyP, fI6TkT050a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760720"/>
            <a:ext cx="3429000" cy="365760"/>
          </a:xfrm>
          <a:prstGeom prst="rect">
            <a:avLst/>
          </a:prstGeom>
          <a:noFill/>
        </p:spPr>
        <p:txBody>
          <a:bodyPr wrap="none" lIns="64008" rIns="64008" anchor="t">
            <a:spAutoFit/>
          </a:bodyPr>
          <a:lstStyle/>
          <a:p>
            <a:pPr algn="l"/>
            <a:r>
              <a:rPr sz="840" b="0" i="0">
                <a:solidFill>
                  <a:srgbClr val="5B6670"/>
                </a:solidFill>
                <a:latin typeface="Aptos"/>
              </a:rPr>
              <a:t>Goal: audit review quality, not attack reviewers or re-decide acceptance.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932688"/>
            <a:ext cx="3520440" cy="256032"/>
          </a:xfrm>
          <a:prstGeom prst="rect">
            <a:avLst/>
          </a:prstGeom>
          <a:noFill/>
        </p:spPr>
        <p:txBody>
          <a:bodyPr wrap="none" lIns="64008" rIns="64008" anchor="t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Aptos"/>
              </a:rPr>
              <a:t>2. Technical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1225296"/>
            <a:ext cx="3529584" cy="164592"/>
          </a:xfrm>
          <a:prstGeom prst="rect">
            <a:avLst/>
          </a:prstGeom>
          <a:noFill/>
        </p:spPr>
        <p:txBody>
          <a:bodyPr wrap="none" lIns="64008" rIns="64008" anchor="t">
            <a:spAutoFit/>
          </a:bodyPr>
          <a:lstStyle/>
          <a:p>
            <a:pPr algn="l"/>
            <a:r>
              <a:rPr sz="850" b="0" i="0">
                <a:solidFill>
                  <a:srgbClr val="5B6670"/>
                </a:solidFill>
                <a:latin typeface="Aptos"/>
              </a:rPr>
              <a:t>Each node includes one TabR data example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554480"/>
            <a:ext cx="1572768" cy="676656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64008" rIns="64008"/>
          <a:lstStyle/>
          <a:p>
            <a:pPr algn="ctr">
              <a:spcAft>
                <a:spcPts val="80"/>
              </a:spcAft>
            </a:pPr>
            <a:r>
              <a:rPr sz="950" b="1" i="0">
                <a:solidFill>
                  <a:srgbClr val="111827"/>
                </a:solidFill>
                <a:latin typeface="Aptos"/>
              </a:rPr>
              <a:t>Ingestion</a:t>
            </a:r>
          </a:p>
          <a:p>
            <a:pPr>
              <a:spcAft>
                <a:spcPts val="0"/>
              </a:spcAft>
            </a:pPr>
            <a:r>
              <a:rPr sz="740" b="0" i="0">
                <a:solidFill>
                  <a:srgbClr val="111827"/>
                </a:solidFill>
                <a:latin typeface="Aptos"/>
              </a:rPr>
              <a:t>review + rating +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4456" y="1810512"/>
            <a:ext cx="274320" cy="128016"/>
          </a:xfrm>
          <a:prstGeom prst="rect">
            <a:avLst/>
          </a:prstGeom>
          <a:noFill/>
        </p:spPr>
        <p:txBody>
          <a:bodyPr wrap="none" lIns="64008" rIns="64008" anchor="t">
            <a:spAutoFit/>
          </a:bodyPr>
          <a:lstStyle/>
          <a:p>
            <a:pPr algn="ctr"/>
            <a:r>
              <a:rPr sz="1100" b="1" i="0">
                <a:solidFill>
                  <a:srgbClr val="5B6670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1554480"/>
            <a:ext cx="1572768" cy="676656"/>
          </a:xfrm>
          <a:prstGeom prst="roundRect">
            <a:avLst/>
          </a:prstGeom>
          <a:solidFill>
            <a:srgbClr val="F0FDFA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64008" rIns="64008"/>
          <a:lstStyle/>
          <a:p>
            <a:pPr algn="ctr">
              <a:spcAft>
                <a:spcPts val="80"/>
              </a:spcAft>
            </a:pPr>
            <a:r>
              <a:rPr sz="950" b="1" i="0">
                <a:solidFill>
                  <a:srgbClr val="0F766E"/>
                </a:solidFill>
                <a:latin typeface="Aptos"/>
              </a:rPr>
              <a:t>Normalize</a:t>
            </a:r>
          </a:p>
          <a:p>
            <a:pPr>
              <a:spcAft>
                <a:spcPts val="0"/>
              </a:spcAft>
            </a:pPr>
            <a:r>
              <a:rPr sz="740" b="0" i="0">
                <a:solidFill>
                  <a:srgbClr val="111827"/>
                </a:solidFill>
                <a:latin typeface="Aptos"/>
              </a:rPr>
              <a:t>questions chunk; rating=6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2377440"/>
            <a:ext cx="320040" cy="146304"/>
          </a:xfrm>
          <a:prstGeom prst="rect">
            <a:avLst/>
          </a:prstGeom>
          <a:noFill/>
        </p:spPr>
        <p:txBody>
          <a:bodyPr wrap="none" lIns="64008" rIns="64008" anchor="t">
            <a:spAutoFit/>
          </a:bodyPr>
          <a:lstStyle/>
          <a:p>
            <a:pPr algn="ctr"/>
            <a:r>
              <a:rPr sz="1300" b="1" i="0">
                <a:solidFill>
                  <a:srgbClr val="5B6670"/>
                </a:solidFill>
                <a:latin typeface="Aptos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2633472"/>
            <a:ext cx="1572768" cy="768096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64008" rIns="64008"/>
          <a:lstStyle/>
          <a:p>
            <a:pPr algn="ctr">
              <a:spcAft>
                <a:spcPts val="80"/>
              </a:spcAft>
            </a:pPr>
            <a:r>
              <a:rPr sz="950" b="1" i="0">
                <a:solidFill>
                  <a:srgbClr val="047857"/>
                </a:solidFill>
                <a:latin typeface="Aptos"/>
              </a:rPr>
              <a:t>Extract claims</a:t>
            </a:r>
          </a:p>
          <a:p>
            <a:pPr>
              <a:spcAft>
                <a:spcPts val="0"/>
              </a:spcAft>
            </a:pPr>
            <a:r>
              <a:rPr sz="740" b="0" i="0">
                <a:solidFill>
                  <a:srgbClr val="111827"/>
                </a:solidFill>
                <a:latin typeface="Aptos"/>
              </a:rPr>
              <a:t>Why choose m=96?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34456" y="2907792"/>
            <a:ext cx="274320" cy="128016"/>
          </a:xfrm>
          <a:prstGeom prst="rect">
            <a:avLst/>
          </a:prstGeom>
          <a:noFill/>
        </p:spPr>
        <p:txBody>
          <a:bodyPr wrap="none" lIns="64008" rIns="64008" anchor="t">
            <a:spAutoFit/>
          </a:bodyPr>
          <a:lstStyle/>
          <a:p>
            <a:pPr algn="ctr"/>
            <a:r>
              <a:rPr sz="1100" b="1" i="0">
                <a:solidFill>
                  <a:srgbClr val="5B6670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633472"/>
            <a:ext cx="1572768" cy="768096"/>
          </a:xfrm>
          <a:prstGeom prst="roundRect">
            <a:avLst/>
          </a:prstGeom>
          <a:solidFill>
            <a:srgbClr val="F0F9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64008" rIns="64008"/>
          <a:lstStyle/>
          <a:p>
            <a:pPr algn="ctr">
              <a:spcAft>
                <a:spcPts val="80"/>
              </a:spcAft>
            </a:pPr>
            <a:r>
              <a:rPr sz="950" b="1" i="0">
                <a:solidFill>
                  <a:srgbClr val="0369A1"/>
                </a:solidFill>
                <a:latin typeface="Aptos"/>
              </a:rPr>
              <a:t>Retrieve evidence</a:t>
            </a:r>
          </a:p>
          <a:p>
            <a:pPr>
              <a:spcAft>
                <a:spcPts val="0"/>
              </a:spcAft>
            </a:pPr>
            <a:r>
              <a:rPr sz="740" b="0" i="0">
                <a:solidFill>
                  <a:srgbClr val="111827"/>
                </a:solidFill>
                <a:latin typeface="Aptos"/>
              </a:rPr>
              <a:t>response: Section A.6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566160"/>
            <a:ext cx="320040" cy="146304"/>
          </a:xfrm>
          <a:prstGeom prst="rect">
            <a:avLst/>
          </a:prstGeom>
          <a:noFill/>
        </p:spPr>
        <p:txBody>
          <a:bodyPr wrap="none" lIns="64008" rIns="64008" anchor="t">
            <a:spAutoFit/>
          </a:bodyPr>
          <a:lstStyle/>
          <a:p>
            <a:pPr algn="ctr"/>
            <a:r>
              <a:rPr sz="1300" b="1" i="0">
                <a:solidFill>
                  <a:srgbClr val="5B6670"/>
                </a:solidFill>
                <a:latin typeface="Aptos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822191"/>
            <a:ext cx="1572768" cy="804672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64008" rIns="64008"/>
          <a:lstStyle/>
          <a:p>
            <a:pPr algn="ctr">
              <a:spcAft>
                <a:spcPts val="80"/>
              </a:spcAft>
            </a:pPr>
            <a:r>
              <a:rPr sz="950" b="1" i="0">
                <a:solidFill>
                  <a:srgbClr val="B45309"/>
                </a:solidFill>
                <a:latin typeface="Aptos"/>
              </a:rPr>
              <a:t>Judge</a:t>
            </a:r>
          </a:p>
          <a:p>
            <a:pPr>
              <a:spcAft>
                <a:spcPts val="0"/>
              </a:spcAft>
            </a:pPr>
            <a:r>
              <a:rPr sz="740" b="0" i="0">
                <a:solidFill>
                  <a:srgbClr val="111827"/>
                </a:solidFill>
                <a:latin typeface="Aptos"/>
              </a:rPr>
              <a:t>strongly_agree; supported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4456" y="4114800"/>
            <a:ext cx="274320" cy="128016"/>
          </a:xfrm>
          <a:prstGeom prst="rect">
            <a:avLst/>
          </a:prstGeom>
          <a:noFill/>
        </p:spPr>
        <p:txBody>
          <a:bodyPr wrap="none" lIns="64008" rIns="64008" anchor="t">
            <a:spAutoFit/>
          </a:bodyPr>
          <a:lstStyle/>
          <a:p>
            <a:pPr algn="ctr"/>
            <a:r>
              <a:rPr sz="1100" b="1" i="0">
                <a:solidFill>
                  <a:srgbClr val="5B6670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3822191"/>
            <a:ext cx="1572768" cy="80467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64008" rIns="64008"/>
          <a:lstStyle/>
          <a:p>
            <a:pPr algn="ctr">
              <a:spcAft>
                <a:spcPts val="80"/>
              </a:spcAft>
            </a:pPr>
            <a:r>
              <a:rPr sz="950" b="1" i="0">
                <a:solidFill>
                  <a:srgbClr val="B91C1C"/>
                </a:solidFill>
                <a:latin typeface="Aptos"/>
              </a:rPr>
              <a:t>Reliability gate</a:t>
            </a:r>
          </a:p>
          <a:p>
            <a:pPr>
              <a:spcAft>
                <a:spcPts val="0"/>
              </a:spcAft>
            </a:pPr>
            <a:r>
              <a:rPr sz="740" b="0" i="0">
                <a:solidFill>
                  <a:srgbClr val="111827"/>
                </a:solidFill>
                <a:latin typeface="Aptos"/>
              </a:rPr>
              <a:t>flag weak / unverifiable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4773168"/>
            <a:ext cx="320040" cy="146304"/>
          </a:xfrm>
          <a:prstGeom prst="rect">
            <a:avLst/>
          </a:prstGeom>
          <a:noFill/>
        </p:spPr>
        <p:txBody>
          <a:bodyPr wrap="none" lIns="64008" rIns="64008" anchor="t">
            <a:spAutoFit/>
          </a:bodyPr>
          <a:lstStyle/>
          <a:p>
            <a:pPr algn="ctr"/>
            <a:r>
              <a:rPr sz="1300" b="1" i="0">
                <a:solidFill>
                  <a:srgbClr val="5B6670"/>
                </a:solidFill>
                <a:latin typeface="Aptos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5029200"/>
            <a:ext cx="3429000" cy="841248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64008" rIns="64008"/>
          <a:lstStyle/>
          <a:p>
            <a:pPr algn="ctr">
              <a:spcAft>
                <a:spcPts val="80"/>
              </a:spcAft>
            </a:pPr>
            <a:r>
              <a:rPr sz="950" b="1" i="0">
                <a:solidFill>
                  <a:srgbClr val="5B4494"/>
                </a:solidFill>
                <a:latin typeface="Aptos"/>
              </a:rPr>
              <a:t>Report + calibration</a:t>
            </a:r>
          </a:p>
          <a:p>
            <a:pPr>
              <a:spcAft>
                <a:spcPts val="0"/>
              </a:spcAft>
            </a:pPr>
            <a:r>
              <a:rPr sz="740" b="0" i="0">
                <a:solidFill>
                  <a:srgbClr val="111827"/>
                </a:solidFill>
                <a:latin typeface="Aptos"/>
              </a:rPr>
              <a:t>RQS 54; guidance: add m-ablation table; export human/AI labels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6016752"/>
            <a:ext cx="3429000" cy="2286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64008" rIns="64008"/>
          <a:lstStyle/>
          <a:p>
            <a:pPr algn="ctr">
              <a:spcAft>
                <a:spcPts val="0"/>
              </a:spcAft>
            </a:pPr>
            <a:r>
              <a:rPr sz="710" b="0" i="0">
                <a:solidFill>
                  <a:srgbClr val="E5E7EB"/>
                </a:solidFill>
                <a:latin typeface="Aptos"/>
              </a:rPr>
              <a:t>Simple pipeline first: traceable, reproducible, easy to calibrate.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932688"/>
            <a:ext cx="3429000" cy="256032"/>
          </a:xfrm>
          <a:prstGeom prst="rect">
            <a:avLst/>
          </a:prstGeom>
          <a:noFill/>
        </p:spPr>
        <p:txBody>
          <a:bodyPr wrap="none" lIns="64008" rIns="64008" anchor="t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Aptos"/>
              </a:rPr>
              <a:t>3. Current scoring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1225296"/>
            <a:ext cx="3429000" cy="164592"/>
          </a:xfrm>
          <a:prstGeom prst="rect">
            <a:avLst/>
          </a:prstGeom>
          <a:noFill/>
        </p:spPr>
        <p:txBody>
          <a:bodyPr wrap="none" lIns="64008" rIns="64008" anchor="t">
            <a:spAutoFit/>
          </a:bodyPr>
          <a:lstStyle/>
          <a:p>
            <a:pPr algn="l"/>
            <a:r>
              <a:rPr sz="850" b="0" i="0">
                <a:solidFill>
                  <a:srgbClr val="5B6670"/>
                </a:solidFill>
                <a:latin typeface="Aptos"/>
              </a:rPr>
              <a:t>Detailed scorecard + zoomed key result</a:t>
            </a:r>
          </a:p>
        </p:txBody>
      </p:sp>
      <p:pic>
        <p:nvPicPr>
          <p:cNvPr id="34" name="Picture 33" descr="review_scoring_snapshot_CEBB2izG6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481328"/>
            <a:ext cx="2267712" cy="2421455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8485632" y="1572768"/>
            <a:ext cx="530352" cy="192024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64008" rIns="64008"/>
          <a:lstStyle/>
          <a:p>
            <a:pPr algn="ctr"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Aptos"/>
              </a:rPr>
              <a:t>full</a:t>
            </a:r>
          </a:p>
        </p:txBody>
      </p:sp>
      <p:pic>
        <p:nvPicPr>
          <p:cNvPr id="36" name="Picture 35" descr="review_scoring_snapshot_CEBB2izG6I_zo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3703320"/>
            <a:ext cx="3383280" cy="2029968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10762488" y="1481328"/>
            <a:ext cx="987552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64008" rIns="64008"/>
          <a:lstStyle/>
          <a:p>
            <a:pPr algn="ctr">
              <a:spcAft>
                <a:spcPts val="50"/>
              </a:spcAft>
            </a:pPr>
            <a:r>
              <a:rPr sz="1100" b="1" i="0">
                <a:solidFill>
                  <a:srgbClr val="B91C1C"/>
                </a:solidFill>
                <a:latin typeface="Aptos"/>
              </a:rPr>
              <a:t>RQS</a:t>
            </a:r>
          </a:p>
          <a:p>
            <a:pPr algn="ctr">
              <a:spcAft>
                <a:spcPts val="50"/>
              </a:spcAft>
            </a:pPr>
            <a:r>
              <a:rPr sz="2800" b="1" i="0">
                <a:solidFill>
                  <a:srgbClr val="B91C1C"/>
                </a:solidFill>
                <a:latin typeface="Aptos"/>
              </a:rPr>
              <a:t>54</a:t>
            </a:r>
          </a:p>
          <a:p>
            <a:pPr algn="ctr">
              <a:spcAft>
                <a:spcPts val="50"/>
              </a:spcAft>
            </a:pPr>
            <a:r>
              <a:rPr sz="900" b="1" i="0">
                <a:solidFill>
                  <a:srgbClr val="0F766E"/>
                </a:solidFill>
                <a:latin typeface="Aptos"/>
              </a:rPr>
              <a:t>Claim 2</a:t>
            </a:r>
          </a:p>
          <a:p>
            <a:pPr algn="ctr">
              <a:spcAft>
                <a:spcPts val="50"/>
              </a:spcAft>
            </a:pPr>
            <a:r>
              <a:rPr sz="1000" b="1" i="0">
                <a:solidFill>
                  <a:srgbClr val="047857"/>
                </a:solidFill>
                <a:latin typeface="Aptos"/>
              </a:rPr>
              <a:t>supported</a:t>
            </a:r>
          </a:p>
          <a:p>
            <a:pPr algn="ctr">
              <a:spcAft>
                <a:spcPts val="0"/>
              </a:spcAft>
            </a:pPr>
            <a:r>
              <a:rPr sz="740" b="0" i="0">
                <a:solidFill>
                  <a:srgbClr val="5B6670"/>
                </a:solidFill>
                <a:latin typeface="Aptos"/>
              </a:rPr>
              <a:t>medium confidence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0" y="6144768"/>
            <a:ext cx="3383280" cy="237744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64008" rIns="64008"/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D1D5DB"/>
                </a:solidFill>
                <a:latin typeface="Aptos"/>
                <a:hlinkClick r:id="rId7"/>
              </a:rPr>
              <a:t>Demo report</a:t>
            </a:r>
          </a:p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D1D5DB"/>
                </a:solidFill>
                <a:latin typeface="Aptos"/>
                <a:hlinkClick r:id="rId8"/>
              </a:rPr>
              <a:t> | Repo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" y="6565392"/>
            <a:ext cx="11430000" cy="109728"/>
          </a:xfrm>
          <a:prstGeom prst="rect">
            <a:avLst/>
          </a:prstGeom>
          <a:noFill/>
        </p:spPr>
        <p:txBody>
          <a:bodyPr wrap="none" lIns="64008" rIns="64008" anchor="t">
            <a:spAutoFit/>
          </a:bodyPr>
          <a:lstStyle/>
          <a:p>
            <a:pPr algn="l"/>
            <a:r>
              <a:rPr sz="640" b="0" i="0">
                <a:solidFill>
                  <a:srgbClr val="5B6670"/>
                </a:solidFill>
                <a:latin typeface="Aptos"/>
              </a:rPr>
              <a:t>RQS = Review Quality Score. Current scores are preliminary MVP outputs for calibration, not final ground truth.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